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48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811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9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96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548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215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666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151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188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179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637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740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26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1EDC56-61C4-11BB-3409-658B5BF25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Modèle en utilisant MT5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E3D099-1FE8-EBB7-147D-49E2180B8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zh-CN" dirty="0"/>
              <a:t>Source :</a:t>
            </a:r>
          </a:p>
          <a:p>
            <a:r>
              <a:rPr lang="fr-FR" altLang="zh-CN" dirty="0"/>
              <a:t>- Débat politique français (transcription)</a:t>
            </a:r>
          </a:p>
          <a:p>
            <a:pPr marL="0" indent="0">
              <a:buNone/>
            </a:pPr>
            <a:endParaRPr lang="fr-FR" altLang="zh-CN" dirty="0"/>
          </a:p>
          <a:p>
            <a:r>
              <a:rPr lang="fr-FR" altLang="zh-CN" dirty="0"/>
              <a:t>Modèle utilisé :</a:t>
            </a:r>
          </a:p>
          <a:p>
            <a:r>
              <a:rPr lang="fr-FR" altLang="zh-CN" dirty="0"/>
              <a:t>- mT5 (multilingual Transformer)</a:t>
            </a:r>
          </a:p>
          <a:p>
            <a:r>
              <a:rPr lang="fr-FR" altLang="zh-CN" dirty="0"/>
              <a:t>- Fine-tuning sur nos données</a:t>
            </a:r>
          </a:p>
          <a:p>
            <a:endParaRPr lang="fr-FR" altLang="zh-CN" dirty="0"/>
          </a:p>
          <a:p>
            <a:r>
              <a:rPr lang="fr-FR" altLang="zh-CN" dirty="0"/>
              <a:t>Pourquoi mT5 :</a:t>
            </a:r>
          </a:p>
          <a:p>
            <a:r>
              <a:rPr lang="fr-FR" altLang="zh-CN" dirty="0"/>
              <a:t>- Modèle multilingue</a:t>
            </a:r>
          </a:p>
          <a:p>
            <a:r>
              <a:rPr lang="fr-FR" altLang="zh-CN" dirty="0"/>
              <a:t>- Adapté aux tâches de traduction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9480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417A4-B6DA-F4D2-CC60-A1329C1AF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747137-E023-4258-CFAF-F0EDC2055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Modèle en utilisant MT5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327549-94CA-1128-2129-6701E8F09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zh-CN" dirty="0"/>
              <a:t>Nettoyage des données :</a:t>
            </a:r>
          </a:p>
          <a:p>
            <a:r>
              <a:rPr lang="fr-FR" altLang="zh-CN" dirty="0"/>
              <a:t>- Normalisation (majuscules, suppression ponctuation)</a:t>
            </a:r>
          </a:p>
          <a:p>
            <a:r>
              <a:rPr lang="fr-FR" altLang="zh-CN" dirty="0"/>
              <a:t>- Uniformisation des entités (MACRON, LE_PEN)</a:t>
            </a:r>
          </a:p>
          <a:p>
            <a:r>
              <a:rPr lang="fr-FR" altLang="zh-CN" dirty="0"/>
              <a:t>- Filtrage des phrases aberrantes</a:t>
            </a:r>
          </a:p>
          <a:p>
            <a:r>
              <a:rPr lang="fr-FR" altLang="zh-CN" dirty="0"/>
              <a:t>- Vérification de l’alignement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690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A02F02-38E7-0AEE-0D41-BEE24DF2C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57367F-0D64-42F0-A033-660B417FE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4C980A-5321-4E88-B6F7-572A3327E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29411DD-732B-4883-8431-BF67EA064F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0802BDA8-DBFD-4424-9577-4CECD3966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3A4651DB-CA25-45C9-BB5B-490E75E109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2561519A-19C4-4FAE-B4D2-9967A0285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D7536EEC-CD2D-4F8D-8FCE-1B57B67C1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06D071C-EBE9-493C-B2FF-C290E80E6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AE43943F-3505-4459-B105-5ADD87A9B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DCFA8E01-9AAA-4377-B145-D4C3BC938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D0F9B300-29E8-4013-9610-4C98C20F5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D80DC548-7776-4F62-9150-EE50775DC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B47EB33-C045-4382-BB34-C409FBFAB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9799171D-9C80-4F36-854F-272AB4CB7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36853A3D-C5F1-4325-ABDD-D82962719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F36C52C5-A8E2-4FDD-8C82-0B0A36ED2A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EAB04D6F-5C3B-4BC8-A8D0-F0F70C33F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337A064D-A403-4F71-A373-F748D44C1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408954A6-C2C2-455F-8AB9-EF03ED0E7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98954187-FB8C-4673-8481-D251884C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5DE674D7-0925-4935-B299-98744B4190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D7AF2ED-2D49-4A69-BAB2-CF989B3B8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67F02011-466C-4790-B052-0CB804250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A1FAD6E-B62A-435F-B914-503F8B950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DCBF1B1-B0BB-40C4-9870-227A638C1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Isosceles Triangle 22">
              <a:extLst>
                <a:ext uri="{FF2B5EF4-FFF2-40B4-BE49-F238E27FC236}">
                  <a16:creationId xmlns:a16="http://schemas.microsoft.com/office/drawing/2014/main" id="{C7D2A079-0082-43E4-9253-BA8D43378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EDFDFEF-7A52-497B-AE56-46D446902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803AEAEF-27E9-A928-38A4-86A36A2AE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1" y="2358391"/>
            <a:ext cx="3498979" cy="2453676"/>
          </a:xfrm>
        </p:spPr>
        <p:txBody>
          <a:bodyPr>
            <a:normAutofit/>
          </a:bodyPr>
          <a:lstStyle/>
          <a:p>
            <a:r>
              <a:rPr lang="fr-FR" altLang="zh-CN" dirty="0"/>
              <a:t>Modèle en utilisant MT5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41B1B9-CE6B-A5CB-C5C0-4E3847B69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797595"/>
            <a:ext cx="6281873" cy="1812876"/>
          </a:xfrm>
        </p:spPr>
        <p:txBody>
          <a:bodyPr>
            <a:normAutofit/>
          </a:bodyPr>
          <a:lstStyle/>
          <a:p>
            <a:r>
              <a:rPr lang="fr-FR" altLang="zh-CN" dirty="0"/>
              <a:t>Statistiques :</a:t>
            </a:r>
          </a:p>
          <a:p>
            <a:r>
              <a:rPr lang="fr-FR" altLang="zh-CN" dirty="0"/>
              <a:t>- 476 phrases</a:t>
            </a:r>
          </a:p>
          <a:p>
            <a:r>
              <a:rPr lang="fr-FR" altLang="zh-CN" dirty="0"/>
              <a:t>- Vocabulaire : ~1445 tokens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E8330F-8336-C2A4-1FC6-812E515D1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21" b="-2"/>
          <a:stretch>
            <a:fillRect/>
          </a:stretch>
        </p:blipFill>
        <p:spPr>
          <a:xfrm>
            <a:off x="5115908" y="3100159"/>
            <a:ext cx="6274561" cy="2957451"/>
          </a:xfrm>
          <a:prstGeom prst="rect">
            <a:avLst/>
          </a:prstGeom>
          <a:ln w="9525">
            <a:solidFill>
              <a:schemeClr val="tx1">
                <a:alpha val="2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76393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099C6-4392-855D-1340-7BCC2A750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4669E4-B769-C2B2-5A1D-437E43813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Résultat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1B7E76-EF42-3165-C1D9-0EF5D1011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Input</a:t>
            </a:r>
            <a:r>
              <a:rPr lang="fr-FR" altLang="zh-CN" dirty="0"/>
              <a:t> : j'incite et j'enlève les charges et les impôts.</a:t>
            </a:r>
            <a:br>
              <a:rPr lang="fr-FR" altLang="zh-CN" dirty="0"/>
            </a:br>
            <a:r>
              <a:rPr lang="fr-FR" altLang="zh-CN" dirty="0"/>
              <a:t>Output : C'inciTE ET MOI ENLEVE TAXES ET IMPOTS</a:t>
            </a:r>
          </a:p>
          <a:p>
            <a:endParaRPr lang="fr-FR" altLang="zh-CN" dirty="0"/>
          </a:p>
          <a:p>
            <a:r>
              <a:rPr lang="fr-FR" altLang="zh-CN" dirty="0"/>
              <a:t>Input : Le président va présenter la réforme demain.</a:t>
            </a:r>
          </a:p>
          <a:p>
            <a:pPr marL="0" indent="0">
              <a:buNone/>
            </a:pPr>
            <a:r>
              <a:rPr lang="fr-FR" altLang="zh-CN" dirty="0"/>
              <a:t>    Output : C'EST PRESIDENTE VA PRESENTER REFORMATION DEMAIN</a:t>
            </a:r>
          </a:p>
          <a:p>
            <a:endParaRPr lang="fr-FR" altLang="zh-CN" dirty="0"/>
          </a:p>
          <a:p>
            <a:r>
              <a:rPr lang="fr-FR" altLang="zh-CN" dirty="0"/>
              <a:t>Input   : mais vous pourrez asséner.</a:t>
            </a:r>
          </a:p>
          <a:p>
            <a:r>
              <a:rPr lang="fr-FR" altLang="zh-CN" dirty="0"/>
              <a:t>Ouput : MAIS VOUS POURLEZ ACHAT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796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3509D-1C76-3237-0AD9-41F70EBC3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B163E-ECF9-20B9-EC2F-A833759F0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Résultat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C25BA3-8BEC-E73B-B709-A2CB790C3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altLang="zh-CN" dirty="0"/>
              <a:t>Problèmes observés :</a:t>
            </a:r>
          </a:p>
          <a:p>
            <a:r>
              <a:rPr lang="fr-FR" altLang="zh-CN" dirty="0"/>
              <a:t>- </a:t>
            </a:r>
            <a:r>
              <a:rPr lang="fr-CA" altLang="zh-CN" dirty="0"/>
              <a:t>Confusion lexicale </a:t>
            </a:r>
            <a:r>
              <a:rPr lang="fr-FR" altLang="zh-CN" dirty="0"/>
              <a:t>(</a:t>
            </a:r>
            <a:r>
              <a:rPr lang="fr-CA" altLang="zh-CN" dirty="0"/>
              <a:t>POURREZ → POURLEZ</a:t>
            </a:r>
            <a:r>
              <a:rPr lang="fr-FR" altLang="zh-CN" dirty="0"/>
              <a:t>)</a:t>
            </a:r>
          </a:p>
          <a:p>
            <a:r>
              <a:rPr lang="fr-FR" altLang="zh-CN" dirty="0"/>
              <a:t>- </a:t>
            </a:r>
            <a:r>
              <a:rPr lang="fr-CA" altLang="zh-CN" dirty="0"/>
              <a:t>Biais de fréquence</a:t>
            </a:r>
            <a:endParaRPr lang="fr-FR" altLang="zh-CN" dirty="0"/>
          </a:p>
          <a:p>
            <a:r>
              <a:rPr lang="fr-FR" altLang="zh-CN" dirty="0"/>
              <a:t>- Sortie trop proche du français </a:t>
            </a:r>
            <a:r>
              <a:rPr lang="en-US" altLang="zh-CN" dirty="0"/>
              <a:t>(</a:t>
            </a:r>
            <a:r>
              <a:rPr lang="fr-FR" altLang="zh-CN" dirty="0"/>
              <a:t>présence de "CE", "NE", "L’ 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6095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AA86A4-17F0-552B-9190-8157A3BB9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Modèle en utilisant MT5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1D245D-62E5-FB7B-A2BF-E566CD144A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altLang="zh-CN" dirty="0"/>
              <a:t>Causes possibles :</a:t>
            </a:r>
          </a:p>
          <a:p>
            <a:r>
              <a:rPr lang="fr-FR" altLang="zh-CN" dirty="0"/>
              <a:t>- Données très limitées (~500 phrases)</a:t>
            </a:r>
          </a:p>
          <a:p>
            <a:r>
              <a:rPr lang="fr-FR" altLang="zh-CN" dirty="0"/>
              <a:t>- Gloss pas totalement normalisé</a:t>
            </a:r>
          </a:p>
          <a:p>
            <a:r>
              <a:rPr lang="fr-FR" altLang="zh-CN" dirty="0"/>
              <a:t>- Surapprentissage (overfitting)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B2FDDD-007E-5A96-9D98-FC427F03F8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altLang="zh-CN" dirty="0"/>
              <a:t>Perspectives :</a:t>
            </a:r>
          </a:p>
          <a:p>
            <a:r>
              <a:rPr lang="fr-FR" altLang="zh-CN" dirty="0"/>
              <a:t>- Améliorer le </a:t>
            </a:r>
            <a:r>
              <a:rPr lang="fr-FR" altLang="zh-CN"/>
              <a:t>nettoyage </a:t>
            </a:r>
          </a:p>
          <a:p>
            <a:r>
              <a:rPr lang="fr-FR" altLang="zh-CN"/>
              <a:t>- </a:t>
            </a:r>
            <a:r>
              <a:rPr lang="fr-FR" altLang="zh-CN" dirty="0"/>
              <a:t>Augmenter les données</a:t>
            </a:r>
          </a:p>
          <a:p>
            <a:r>
              <a:rPr lang="fr-FR" altLang="zh-CN" dirty="0"/>
              <a:t>- Ajuster les paramètres de génération</a:t>
            </a:r>
          </a:p>
          <a:p>
            <a:r>
              <a:rPr lang="fr-FR" altLang="zh-CN" dirty="0"/>
              <a:t>- Tester d’autres modèles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7607227"/>
      </p:ext>
    </p:extLst>
  </p:cSld>
  <p:clrMapOvr>
    <a:masterClrMapping/>
  </p:clrMapOvr>
</p:sld>
</file>

<file path=ppt/theme/theme1.xml><?xml version="1.0" encoding="utf-8"?>
<a:theme xmlns:a="http://schemas.openxmlformats.org/drawingml/2006/main" name="地图集">
  <a:themeElements>
    <a:clrScheme name="地图集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地图集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地图集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地图集</Template>
  <TotalTime>46</TotalTime>
  <Words>224</Words>
  <Application>Microsoft Office PowerPoint</Application>
  <PresentationFormat>宽屏</PresentationFormat>
  <Paragraphs>44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Calibri Light</vt:lpstr>
      <vt:lpstr>Rockwell</vt:lpstr>
      <vt:lpstr>Wingdings</vt:lpstr>
      <vt:lpstr>地图集</vt:lpstr>
      <vt:lpstr>Modèle en utilisant MT5</vt:lpstr>
      <vt:lpstr>Modèle en utilisant MT5</vt:lpstr>
      <vt:lpstr>Modèle en utilisant MT5</vt:lpstr>
      <vt:lpstr>Résultat</vt:lpstr>
      <vt:lpstr>Résultat</vt:lpstr>
      <vt:lpstr>Modèle en utilisant MT5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Alexia</dc:creator>
  <cp:lastModifiedBy>Alexia Lei (Student at CentraleSupelec)</cp:lastModifiedBy>
  <cp:revision>5</cp:revision>
  <dcterms:created xsi:type="dcterms:W3CDTF">2023-08-09T12:44:00Z</dcterms:created>
  <dcterms:modified xsi:type="dcterms:W3CDTF">2026-03-27T09:40:26Z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