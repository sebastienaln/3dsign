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E9E89-BB77-5E86-E1CA-88D1E9DC4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BEB285-8EDA-5215-6496-B3794952C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F89CBF-25D0-BB0A-3ACD-C3EAF82A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148141-7071-D243-1A44-E861D78F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5BC9AF-7412-D589-0A5B-EC65F37D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37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5936B3-3B09-3D50-4DDC-D9E284F7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C2BC3B-C36B-D843-F260-C5C0FFE80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E1AD32-E416-CFEA-45D4-7C974610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863644-5094-E2F6-92AD-BE7C237A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06C8C2-9F62-4B69-E427-796B0971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28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562F8-7BE9-6FDA-3238-2CB45B4B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70672E-DFEF-B545-875A-C5B16348E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10814-39D3-EDF9-87C9-857AE1ED3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9FE7A4-F84E-EC24-8C3C-14E5A6A5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356130-4572-0EFD-B7C1-E6466D82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57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F9ED74-F50D-A4C2-7698-D17D7604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605402-E78B-164D-FBD8-B4EF8DA02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2D1843-D119-E5BE-B303-147EBD952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4CA70B-CE29-947A-1B5D-475EBC81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86DC2C-D00F-E30D-3694-DEE0358F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E94560-5702-5D6A-9F05-9DF226B8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00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9CF64-7C7A-E512-2985-5EDDF7A0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E62BD9-5F18-44DF-134D-E4EBBBF0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9A748D-F093-02FE-7B79-70F1E7043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DE8C642-3F5C-8E4A-3B5A-BAB2AB2BF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3DF8DE-3BA8-0705-42E0-2A4176838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F488AE2-97F3-A314-A360-65667064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6D2C29-7ED8-599D-0FA3-C46F4AD9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34B280D-AD40-FD9A-3B27-7D861786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15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D2B72E-2410-B8F0-13E8-5D39CA98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E2533B2-D806-55AA-DC6C-D29F37A3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A98D4E-37E9-8663-04B5-AB0F07BD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0AD6BB-FAC3-D370-F0AE-0F6CA065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03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CCB01E-89D6-2E44-53A9-1F202200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77FBAA9-D69D-3A39-EE82-B87015F4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B97560-DFA4-F8F7-ACD7-0687DB02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865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4F784-2497-781B-5F86-6158816E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C2B056-695C-8B4C-AB5F-57E6F4EA1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E02360-FFDF-F081-DF46-FE98F90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9BEEF-3C6D-691C-6B6F-4513F7897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0FC772-324C-13F5-E5BC-FF751736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0452D7-9F39-B042-5911-51AA8154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9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054DF-1373-CEB8-8045-C8E0CE52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E8DEB7-9B70-4536-B19B-DFB6071B4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97BCCC-36ED-7D66-F0F9-2D9BF7574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8346C2-ADDC-973E-06A6-C487662A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87E4F9-B369-E6F9-8937-F0EB23B8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7D4775-9828-D51C-0D49-4823BC8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687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4F3FD7-F176-2871-33AB-84638C1A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9777EBC-CD76-E3C7-94C7-D69DD024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D7DDCF-CBBD-267F-4235-AFAF3304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22B386-92EC-B089-E2D6-CBE482F2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E894DE-3043-F550-2850-013004B0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80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3D8EF49-7A7D-9A08-A2A1-3B2A49D9D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8DBC5A-4EC7-47F9-AAE4-3BEC1E87D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01BAAC-D98E-33C7-3F04-BA328F64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17A036-E3C0-2749-992F-93A56036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26AEF7-5497-BE3A-367D-FB70EFE4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51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D744B0-2CA8-125C-F75B-FE3FC86B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3A1D23-0962-C9A8-3EA7-BE3B465E2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89088A-0304-C7F3-CE53-337C5E7AF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9D6C5-E8BC-457E-9499-5B9A6C0C63E1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3C1EA4-36AC-B7CB-9EE7-67CDB3E12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B9726-5999-5214-F78D-54A1680F4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F7D43-8E7A-45DB-BDDE-ABE011104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71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C255FC-6AAE-66BC-1908-18ECD826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Article : «</a:t>
            </a:r>
            <a:r>
              <a:rPr lang="en-US" dirty="0"/>
              <a:t>An Open-Source Gloss-Based Baseline</a:t>
            </a:r>
            <a:br>
              <a:rPr lang="en-US" dirty="0"/>
            </a:br>
            <a:r>
              <a:rPr lang="en-US" dirty="0"/>
              <a:t>for Spoken to Signed Language Translation</a:t>
            </a:r>
            <a:r>
              <a:rPr lang="fr-FR" dirty="0"/>
              <a:t>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D7674C-ED7B-C038-9619-5ABF6EA1D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Propose pipeline complète avec </a:t>
            </a:r>
            <a:r>
              <a:rPr lang="fr-FR" dirty="0" err="1"/>
              <a:t>github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-to-gloss-to-pose-to-</a:t>
            </a:r>
            <a:r>
              <a:rPr lang="fr-FR" dirty="0" err="1"/>
              <a:t>video</a:t>
            </a:r>
            <a:r>
              <a:rPr lang="fr-FR" dirty="0"/>
              <a:t> pour l’allemand vers la langue des signes allemande suisse, le français suisse et l’italien suisse.</a:t>
            </a:r>
          </a:p>
          <a:p>
            <a:r>
              <a:rPr lang="fr-FR" dirty="0"/>
              <a:t>Focus sur </a:t>
            </a:r>
            <a:r>
              <a:rPr lang="fr-FR" dirty="0" err="1"/>
              <a:t>text</a:t>
            </a:r>
            <a:r>
              <a:rPr lang="fr-FR" dirty="0"/>
              <a:t>-to-gloss, 3 méthodes présentées (slides suivantes)</a:t>
            </a:r>
          </a:p>
          <a:p>
            <a:r>
              <a:rPr lang="fr-FR" dirty="0"/>
              <a:t>Une méthode en particulier semble efficace sur l’allemand mais est à retravailler si on veut l’appliquer au français.</a:t>
            </a:r>
          </a:p>
          <a:p>
            <a:r>
              <a:rPr lang="fr-FR" dirty="0"/>
              <a:t>Une autre nécessite un </a:t>
            </a:r>
            <a:r>
              <a:rPr lang="fr-FR" dirty="0" err="1"/>
              <a:t>dataset</a:t>
            </a:r>
            <a:r>
              <a:rPr lang="fr-FR" dirty="0"/>
              <a:t> important.</a:t>
            </a:r>
          </a:p>
          <a:p>
            <a:r>
              <a:rPr lang="fr-FR" dirty="0"/>
              <a:t>Le gloss doit porter des métadonnées grammaticales (ex: MANGER [Interrogatif] implique un haussement de sourcils sur l'avatar).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964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17D910-BC8E-7FFE-D1B2-ED414EE6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Lemmatiseur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DDC159-8F19-3EF5-4772-6E3DB2ED5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Cette approche consiste à réduire chaque mot de la langue parlée à sa forme de base (le lemme) de manière brute.</a:t>
            </a:r>
          </a:p>
          <a:p>
            <a:r>
              <a:rPr lang="fr-FR" b="1" dirty="0"/>
              <a:t>Avantages :</a:t>
            </a:r>
            <a:endParaRPr lang="fr-FR" dirty="0"/>
          </a:p>
          <a:p>
            <a:pPr lvl="1"/>
            <a:r>
              <a:rPr lang="fr-FR" b="1" dirty="0"/>
              <a:t>Universalité :</a:t>
            </a:r>
            <a:r>
              <a:rPr lang="fr-FR" dirty="0"/>
              <a:t> Très facile à appliquer à de nombreuses langues.</a:t>
            </a:r>
          </a:p>
          <a:p>
            <a:pPr lvl="1"/>
            <a:r>
              <a:rPr lang="fr-FR" b="1" dirty="0"/>
              <a:t>Simplification :</a:t>
            </a:r>
            <a:r>
              <a:rPr lang="fr-FR" dirty="0"/>
              <a:t> Réduit efficacement la complexité de l'entrée tout en préservant le sens global des mots.</a:t>
            </a:r>
          </a:p>
          <a:p>
            <a:r>
              <a:rPr lang="fr-FR" b="1" dirty="0"/>
              <a:t>Inconvénients :</a:t>
            </a:r>
            <a:endParaRPr lang="fr-FR" dirty="0"/>
          </a:p>
          <a:p>
            <a:pPr lvl="1"/>
            <a:r>
              <a:rPr lang="fr-FR" b="1" dirty="0"/>
              <a:t>Ambiguïté :</a:t>
            </a:r>
            <a:r>
              <a:rPr lang="fr-FR" dirty="0"/>
              <a:t> Comme il ne prend pas en compte le contexte, il ne peut pas distinguer les différents sens d'un même mot.</a:t>
            </a:r>
          </a:p>
          <a:p>
            <a:pPr lvl="1"/>
            <a:r>
              <a:rPr lang="fr-FR" b="1" dirty="0"/>
              <a:t>Pauvreté syntaxique :</a:t>
            </a:r>
            <a:r>
              <a:rPr lang="fr-FR" dirty="0"/>
              <a:t> Ne capture absolument pas les changements grammaticaux ou morphologiques nécessaires pour passer à une langue des signes.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134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7EBE8-AA1C-6038-A4C1-624D8438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Approche par Règles (</a:t>
            </a:r>
            <a:r>
              <a:rPr lang="fr-FR" dirty="0" err="1"/>
              <a:t>Reordonnancement</a:t>
            </a:r>
            <a:r>
              <a:rPr lang="fr-FR" dirty="0"/>
              <a:t> et Suppression)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86834E-364D-361A-8BF8-3C3398E5C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Cette méthode utilise des outils linguistiques (</a:t>
            </a:r>
            <a:r>
              <a:rPr lang="fr-FR" dirty="0" err="1"/>
              <a:t>spaCy</a:t>
            </a:r>
            <a:r>
              <a:rPr lang="fr-FR" dirty="0"/>
              <a:t>) pour transformer la structure de la phrase selon des règles grammaticales prédéfinies (ex: passage de SVO à SOV pour la DGS (allemand)).</a:t>
            </a:r>
          </a:p>
          <a:p>
            <a:r>
              <a:rPr lang="fr-FR" b="1" dirty="0"/>
              <a:t>Avantages :</a:t>
            </a:r>
            <a:endParaRPr lang="fr-FR" dirty="0"/>
          </a:p>
          <a:p>
            <a:pPr lvl="1"/>
            <a:r>
              <a:rPr lang="fr-FR" b="1" dirty="0"/>
              <a:t>Précision linguistique :</a:t>
            </a:r>
            <a:r>
              <a:rPr lang="fr-FR" dirty="0"/>
              <a:t> Utilise un lemmatiseur basé sur le contexte et des étiquettes de parties du discours pour supprimer les mots inutiles (articles, prépositions).</a:t>
            </a:r>
          </a:p>
          <a:p>
            <a:pPr lvl="1"/>
            <a:r>
              <a:rPr lang="fr-FR" b="1" dirty="0"/>
              <a:t>Adaptation structurelle :</a:t>
            </a:r>
            <a:r>
              <a:rPr lang="fr-FR" dirty="0"/>
              <a:t> Permet de déplacer les négations, les lieux ou les adverbes pour coller à la syntaxe réelle des signes.</a:t>
            </a:r>
          </a:p>
          <a:p>
            <a:pPr lvl="1"/>
            <a:r>
              <a:rPr lang="fr-FR" b="1" dirty="0"/>
              <a:t>Efficacité :</a:t>
            </a:r>
            <a:r>
              <a:rPr lang="fr-FR" dirty="0"/>
              <a:t> Identifiée comme la méthode produisant les </a:t>
            </a:r>
            <a:r>
              <a:rPr lang="fr-FR" b="1" dirty="0"/>
              <a:t>meilleurs résultats</a:t>
            </a:r>
            <a:r>
              <a:rPr lang="fr-FR" dirty="0"/>
              <a:t> pour la DSGS dans cette étude.</a:t>
            </a:r>
          </a:p>
          <a:p>
            <a:r>
              <a:rPr lang="fr-FR" b="1" dirty="0"/>
              <a:t>Inconvénients :</a:t>
            </a:r>
            <a:endParaRPr lang="fr-FR" dirty="0"/>
          </a:p>
          <a:p>
            <a:pPr lvl="1"/>
            <a:r>
              <a:rPr lang="fr-FR" b="1" dirty="0"/>
              <a:t>Complexité de mise en œuvre :</a:t>
            </a:r>
            <a:r>
              <a:rPr lang="fr-FR" dirty="0"/>
              <a:t> Nécessite de développer des règles spécifiques pour chaque couple de langues (parlée/signée).</a:t>
            </a:r>
          </a:p>
          <a:p>
            <a:pPr lvl="1"/>
            <a:r>
              <a:rPr lang="fr-FR" b="1" dirty="0"/>
              <a:t>Ambiguïté résiduelle :</a:t>
            </a:r>
            <a:r>
              <a:rPr lang="fr-FR" dirty="0"/>
              <a:t> Malgré sa précision, il peut encore subsister des doutes sur le sens exact de certains mots.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689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63197-6D30-A943-D0C1-995AC6324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Traduction Automatique Neuronale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845FDF-E9CF-E3EE-7EA0-D5208C6C0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Il s'agit d'entraîner un modèle (type Transformer) sur des corpus de données parallèles (vidéos annotées) pour apprendre à traduire automatiquement le texte en gloses.</a:t>
            </a:r>
          </a:p>
          <a:p>
            <a:r>
              <a:rPr lang="fr-FR" b="1" dirty="0"/>
              <a:t>Avantages :</a:t>
            </a:r>
            <a:endParaRPr lang="fr-FR" dirty="0"/>
          </a:p>
          <a:p>
            <a:pPr lvl="1"/>
            <a:r>
              <a:rPr lang="fr-FR" b="1" dirty="0"/>
              <a:t>Apprentissage automatique :</a:t>
            </a:r>
            <a:r>
              <a:rPr lang="fr-FR" dirty="0"/>
              <a:t> Capable théoriquement de capturer des nuances complexes sans avoir à écrire des règles manuelles.</a:t>
            </a:r>
          </a:p>
          <a:p>
            <a:pPr lvl="1"/>
            <a:r>
              <a:rPr lang="fr-FR" b="1" dirty="0"/>
              <a:t>Multilinguisme :</a:t>
            </a:r>
            <a:r>
              <a:rPr lang="fr-FR" dirty="0"/>
              <a:t> Possibilité d'entraîner un système unique pour plusieurs directions de traduction.</a:t>
            </a:r>
          </a:p>
          <a:p>
            <a:r>
              <a:rPr lang="fr-FR" b="1" dirty="0"/>
              <a:t>Inconvénients :</a:t>
            </a:r>
            <a:endParaRPr lang="fr-FR" dirty="0"/>
          </a:p>
          <a:p>
            <a:pPr lvl="1"/>
            <a:r>
              <a:rPr lang="fr-FR" b="1" dirty="0"/>
              <a:t>Manque de robustesse :</a:t>
            </a:r>
            <a:r>
              <a:rPr lang="fr-FR" dirty="0"/>
              <a:t> Très sensible aux variations de domaine (sujets inconnus) et même à la casse (majuscules/minuscules).</a:t>
            </a:r>
          </a:p>
          <a:p>
            <a:pPr lvl="1"/>
            <a:r>
              <a:rPr lang="fr-FR" b="1" dirty="0"/>
              <a:t>Dépendance aux données :</a:t>
            </a:r>
            <a:r>
              <a:rPr lang="fr-FR" dirty="0"/>
              <a:t> Si les données d'entraînement (ex: DGS) diffèrent trop de la langue cible (ex: DSGS), la qualité chute drastiquement.</a:t>
            </a:r>
          </a:p>
          <a:p>
            <a:pPr lvl="1"/>
            <a:r>
              <a:rPr lang="fr-FR" b="1" dirty="0"/>
              <a:t>Moins précise :</a:t>
            </a:r>
            <a:r>
              <a:rPr lang="fr-FR" dirty="0"/>
              <a:t> Dans cette étude, elle s'est révélée moins exacte que l'approche par règles, amputable à un manque de données d’entrainement.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387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42A170-60C9-2AD7-F986-BD32A44E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Datasets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E0B6D61-CFE5-DB59-2D07-8650788F37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0466025"/>
              </p:ext>
            </p:extLst>
          </p:nvPr>
        </p:nvGraphicFramePr>
        <p:xfrm>
          <a:off x="766638" y="2349411"/>
          <a:ext cx="10515600" cy="23774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53663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7950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85237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Google Sans Text"/>
                        </a:rPr>
                        <a:t>Dataset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Google Sans Text"/>
                        </a:rPr>
                        <a:t>Type de données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  <a:latin typeface="Google Sans Text"/>
                        </a:rPr>
                        <a:t>Utilité pour le projet</a:t>
                      </a:r>
                      <a:endParaRPr lang="fr-F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691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Google Sans Text"/>
                        </a:rPr>
                        <a:t>Matignon-LSF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Google Sans Text"/>
                        </a:rPr>
                        <a:t>Audio / Texte / Vidéo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Google Sans Text"/>
                        </a:rPr>
                        <a:t>Entraînement de la traduction </a:t>
                      </a:r>
                      <a:r>
                        <a:rPr lang="fr-FR" b="1" dirty="0">
                          <a:effectLst/>
                          <a:latin typeface="Google Sans Text"/>
                        </a:rPr>
                        <a:t>Texte -&gt; Gloss</a:t>
                      </a:r>
                      <a:endParaRPr lang="fr-F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494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Google Sans Text"/>
                        </a:rPr>
                        <a:t>MEDIAPI-SKEL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Google Sans Text"/>
                        </a:rPr>
                        <a:t>Texte / Squelette 2D-3D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Google Sans Text"/>
                        </a:rPr>
                        <a:t>Mapping </a:t>
                      </a:r>
                      <a:r>
                        <a:rPr lang="fr-FR" b="1" dirty="0">
                          <a:effectLst/>
                          <a:latin typeface="Google Sans Text"/>
                        </a:rPr>
                        <a:t>Gloss -&gt; Mouvement</a:t>
                      </a:r>
                      <a:endParaRPr lang="fr-F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32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Google Sans Text"/>
                        </a:rPr>
                        <a:t>SignAvatars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Google Sans Text"/>
                        </a:rPr>
                        <a:t>3D Mesh (SMPL-X)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Google Sans Text"/>
                        </a:rPr>
                        <a:t>Rendu haute fidélité sur l'</a:t>
                      </a:r>
                      <a:r>
                        <a:rPr lang="fr-FR" b="1">
                          <a:effectLst/>
                          <a:latin typeface="Google Sans Text"/>
                        </a:rPr>
                        <a:t>Avatar 3D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6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Google Sans Text"/>
                        </a:rPr>
                        <a:t>DictaSign</a:t>
                      </a:r>
                      <a:endParaRPr lang="fr-F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Google Sans Text"/>
                        </a:rPr>
                        <a:t>Vidéo / Gloss annotés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Google Sans Text"/>
                        </a:rPr>
                        <a:t>Étude de la </a:t>
                      </a:r>
                      <a:r>
                        <a:rPr lang="fr-FR" b="1" dirty="0">
                          <a:effectLst/>
                          <a:latin typeface="Google Sans Text"/>
                        </a:rPr>
                        <a:t>syntaxe et coarticulation</a:t>
                      </a:r>
                      <a:endParaRPr lang="fr-F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246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17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5672F-CB20-C918-174D-A296C55C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Backlog</a:t>
            </a:r>
            <a:endParaRPr lang="fr-F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40DF1E-05F6-0FEB-3255-9E7AE45D8F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Mise en place du modèle de traduction (Text-to-Gloss) :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L'objectif est d'avoir une "boîte noire" capable de transformer une phrase française en une suite de Gloss cohérente.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de la bibliothèque de mouvements (Gloss-to-Pose) :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Faire le lien entre un mot (Gloss) et un fichier de mouvement (coordonnées 3D).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Moteur d'animation (Pose-to-3D) :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Réussir à animer un avatar à partir des données de mouvement générées.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complet (Audio-to-3D) :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Brancher la reconnaissance vocale en entrée pour tester toute la chaîne.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94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3E7722-42F5-87E8-55D3-2BD0E5F2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Sprint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2058FD-FDF4-0A29-1657-7B279DC4E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Tâche A : Préparation des données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Prendre un petit jeu de données Français/Gloss (ex: Matignon-LSF).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Nettoyer le texte (tout mettre en majuscules pour les gloss, supprimer la ponctuation).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Tâche B : Entraînement initial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Utiliser une architecture simple (comme le Transformer mentionné dans l'article de Zurich).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Lancer un premier entraînement pour voir si le modèle commence à "apprendre" la syntaxe LSF.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Tâche C : Test et Mesure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Vérifier si les phrases de sortie ressemblent à de la langue des signes (score de qualité de traduction).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9961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755</Words>
  <Application>Microsoft Office PowerPoint</Application>
  <PresentationFormat>Grand écran</PresentationFormat>
  <Paragraphs>66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 Text</vt:lpstr>
      <vt:lpstr>Thème Office</vt:lpstr>
      <vt:lpstr>Article : «An Open-Source Gloss-Based Baseline for Spoken to Signed Language Translation»</vt:lpstr>
      <vt:lpstr>Lemmatiseur Simple</vt:lpstr>
      <vt:lpstr>Approche par Règles (Reordonnancement et Suppression)</vt:lpstr>
      <vt:lpstr>Traduction Automatique Neuronale</vt:lpstr>
      <vt:lpstr>Datasets</vt:lpstr>
      <vt:lpstr>Backlog</vt:lpstr>
      <vt:lpstr>Sprint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Moncomble (Student at CentraleSupelec)</dc:creator>
  <cp:lastModifiedBy>Hugo Moncomble (Student at CentraleSupelec)</cp:lastModifiedBy>
  <cp:revision>13</cp:revision>
  <dcterms:created xsi:type="dcterms:W3CDTF">2026-02-16T13:18:54Z</dcterms:created>
  <dcterms:modified xsi:type="dcterms:W3CDTF">2026-02-16T16:32:49Z</dcterms:modified>
</cp:coreProperties>
</file>