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2" r:id="rId4"/>
    <p:sldId id="271"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91" d="100"/>
          <a:sy n="91" d="100"/>
        </p:scale>
        <p:origin x="2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fr-FR"/>
              <a:t>Modifiez le style du titre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fr-FR"/>
              <a:t>Modifiez le style du titre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fr-FR"/>
              <a:t>Modifiez le style du titre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fr-FR"/>
              <a:t>Modifiez le style du titre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fr-FR"/>
              <a:t>Modifiez le style du titre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125305" y="1488985"/>
            <a:ext cx="6264350" cy="16968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118447" y="4351687"/>
            <a:ext cx="6265588" cy="17040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fr-FR"/>
              <a:t>Modifiez le style du titre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fr-FR"/>
              <a:t>Modifiez le style du titre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3/27/2026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3/27/2026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A77720-BC90-F1C9-8490-5506F52F4AE3}"/>
              </a:ext>
            </a:extLst>
          </p:cNvPr>
          <p:cNvSpPr>
            <a:spLocks noGrp="1"/>
          </p:cNvSpPr>
          <p:nvPr>
            <p:ph type="ctrTitle"/>
          </p:nvPr>
        </p:nvSpPr>
        <p:spPr/>
        <p:txBody>
          <a:bodyPr/>
          <a:lstStyle/>
          <a:p>
            <a:r>
              <a:rPr lang="fr-FR" dirty="0"/>
              <a:t>Réunion d’avancement</a:t>
            </a:r>
          </a:p>
        </p:txBody>
      </p:sp>
      <p:sp>
        <p:nvSpPr>
          <p:cNvPr id="3" name="Sous-titre 2">
            <a:extLst>
              <a:ext uri="{FF2B5EF4-FFF2-40B4-BE49-F238E27FC236}">
                <a16:creationId xmlns:a16="http://schemas.microsoft.com/office/drawing/2014/main" id="{7906E0BF-5D05-5FA0-290A-99B795BE64EC}"/>
              </a:ext>
            </a:extLst>
          </p:cNvPr>
          <p:cNvSpPr>
            <a:spLocks noGrp="1"/>
          </p:cNvSpPr>
          <p:nvPr>
            <p:ph type="subTitle" idx="1"/>
          </p:nvPr>
        </p:nvSpPr>
        <p:spPr/>
        <p:txBody>
          <a:bodyPr/>
          <a:lstStyle/>
          <a:p>
            <a:r>
              <a:rPr lang="fr-FR" dirty="0"/>
              <a:t>27/03</a:t>
            </a:r>
          </a:p>
        </p:txBody>
      </p:sp>
    </p:spTree>
    <p:extLst>
      <p:ext uri="{BB962C8B-B14F-4D97-AF65-F5344CB8AC3E}">
        <p14:creationId xmlns:p14="http://schemas.microsoft.com/office/powerpoint/2010/main" val="2384509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20264-A8F9-8F4F-5EF7-956AB6A1ECC1}"/>
              </a:ext>
            </a:extLst>
          </p:cNvPr>
          <p:cNvSpPr>
            <a:spLocks noGrp="1"/>
          </p:cNvSpPr>
          <p:nvPr>
            <p:ph type="title"/>
          </p:nvPr>
        </p:nvSpPr>
        <p:spPr/>
        <p:txBody>
          <a:bodyPr>
            <a:normAutofit/>
          </a:bodyPr>
          <a:lstStyle/>
          <a:p>
            <a:r>
              <a:rPr lang="fr-FR" dirty="0"/>
              <a:t>Modèle de traduction basé des règles</a:t>
            </a:r>
          </a:p>
        </p:txBody>
      </p:sp>
      <p:sp>
        <p:nvSpPr>
          <p:cNvPr id="3" name="Espace réservé du contenu 2">
            <a:extLst>
              <a:ext uri="{FF2B5EF4-FFF2-40B4-BE49-F238E27FC236}">
                <a16:creationId xmlns:a16="http://schemas.microsoft.com/office/drawing/2014/main" id="{3BDDF824-7C26-04DF-01DF-1D011AE93312}"/>
              </a:ext>
            </a:extLst>
          </p:cNvPr>
          <p:cNvSpPr>
            <a:spLocks noGrp="1"/>
          </p:cNvSpPr>
          <p:nvPr>
            <p:ph idx="1"/>
          </p:nvPr>
        </p:nvSpPr>
        <p:spPr/>
        <p:txBody>
          <a:bodyPr>
            <a:normAutofit fontScale="55000" lnSpcReduction="20000"/>
          </a:bodyPr>
          <a:lstStyle/>
          <a:p>
            <a:r>
              <a:rPr lang="fr-FR" sz="2500" dirty="0"/>
              <a:t>Règles ajoutées:</a:t>
            </a:r>
          </a:p>
          <a:p>
            <a:r>
              <a:rPr lang="fr-FR" dirty="0"/>
              <a:t>Rule 0 : rattacher les particules verbales séparables (DE).</a:t>
            </a:r>
          </a:p>
          <a:p>
            <a:r>
              <a:rPr lang="fr-FR" dirty="0"/>
              <a:t>Rule 1 : réordonner les triplets sujet-objet-verbe.</a:t>
            </a:r>
          </a:p>
          <a:p>
            <a:r>
              <a:rPr lang="fr-FR" dirty="0"/>
              <a:t>Rule 2 : filtrer les </a:t>
            </a:r>
            <a:r>
              <a:rPr lang="fr-FR" dirty="0" err="1"/>
              <a:t>tokens</a:t>
            </a:r>
            <a:r>
              <a:rPr lang="fr-FR" dirty="0"/>
              <a:t> utiles (POS/</a:t>
            </a:r>
            <a:r>
              <a:rPr lang="fr-FR" dirty="0" err="1"/>
              <a:t>dep</a:t>
            </a:r>
            <a:r>
              <a:rPr lang="fr-FR" dirty="0"/>
              <a:t>).</a:t>
            </a:r>
          </a:p>
          <a:p>
            <a:r>
              <a:rPr lang="fr-FR" dirty="0"/>
              <a:t>Rule 3 : traiter les adverbes de manière prioritaire.</a:t>
            </a:r>
          </a:p>
          <a:p>
            <a:r>
              <a:rPr lang="fr-FR" dirty="0"/>
              <a:t>Rule 4 : placer les lieux en tête.</a:t>
            </a:r>
          </a:p>
          <a:p>
            <a:r>
              <a:rPr lang="fr-FR" dirty="0"/>
              <a:t>Rule 5 : placer les possessifs après le nom.</a:t>
            </a:r>
          </a:p>
          <a:p>
            <a:r>
              <a:rPr lang="fr-FR" dirty="0"/>
              <a:t>Rule 5b : simplifier la voix passive vers un ordre actif.</a:t>
            </a:r>
          </a:p>
          <a:p>
            <a:r>
              <a:rPr lang="fr-FR" dirty="0"/>
              <a:t>Rule 6 : simplifier les composés nominaux.</a:t>
            </a:r>
          </a:p>
          <a:p>
            <a:r>
              <a:rPr lang="fr-FR" dirty="0"/>
              <a:t>Rule 7 : </a:t>
            </a:r>
            <a:r>
              <a:rPr lang="fr-FR" dirty="0" err="1"/>
              <a:t>glossifier</a:t>
            </a:r>
            <a:r>
              <a:rPr lang="fr-FR" dirty="0"/>
              <a:t> (lemmes + règles pronominales/déictiques).</a:t>
            </a:r>
          </a:p>
          <a:p>
            <a:r>
              <a:rPr lang="fr-FR" dirty="0"/>
              <a:t>Rule 8 : imposer l’ordre simplifié Sujet/IX + Lieu + Temps + Verbe + </a:t>
            </a:r>
            <a:r>
              <a:rPr lang="fr-FR" dirty="0" err="1"/>
              <a:t>Neg</a:t>
            </a:r>
            <a:r>
              <a:rPr lang="fr-FR" dirty="0"/>
              <a:t>/</a:t>
            </a:r>
            <a:r>
              <a:rPr lang="fr-FR" dirty="0" err="1"/>
              <a:t>Freq</a:t>
            </a:r>
            <a:r>
              <a:rPr lang="fr-FR" dirty="0"/>
              <a:t>.</a:t>
            </a:r>
          </a:p>
          <a:p>
            <a:r>
              <a:rPr lang="fr-FR" dirty="0"/>
              <a:t>Rule 9 : post-traitements (fusion négation/fréquence, référents IX-a/b, normalisations surface).</a:t>
            </a:r>
          </a:p>
          <a:p>
            <a:r>
              <a:rPr lang="fr-FR" dirty="0"/>
              <a:t>Rule 10 : gérer les clitiques FR n’/n' et c’/c'.</a:t>
            </a:r>
          </a:p>
          <a:p>
            <a:r>
              <a:rPr lang="fr-FR" dirty="0"/>
              <a:t>Rule 11 : normaliser temps/nombres/dates/heures.</a:t>
            </a:r>
          </a:p>
          <a:p>
            <a:r>
              <a:rPr lang="fr-FR" dirty="0"/>
              <a:t>Rule 12 : ajouter </a:t>
            </a:r>
            <a:r>
              <a:rPr lang="fr-FR" dirty="0" err="1"/>
              <a:t>fingerspelling</a:t>
            </a:r>
            <a:r>
              <a:rPr lang="fr-FR" dirty="0"/>
              <a:t> heuristique (FS-...) pour noms propres inconnus.</a:t>
            </a:r>
          </a:p>
          <a:p>
            <a:r>
              <a:rPr lang="fr-FR" dirty="0"/>
              <a:t>Rule 13 : ajouter des classificateurs heuristiques (CL-...).</a:t>
            </a:r>
          </a:p>
          <a:p>
            <a:r>
              <a:rPr lang="fr-FR" dirty="0"/>
              <a:t>Rule 14 : ajouter Q en fin de phrase interrogative.</a:t>
            </a:r>
          </a:p>
          <a:p>
            <a:r>
              <a:rPr lang="fr-FR" dirty="0"/>
              <a:t>Final Rule : formater la sortie gloss (clauses + fin d’énoncé).</a:t>
            </a:r>
          </a:p>
          <a:p>
            <a:endParaRPr lang="fr-FR" dirty="0"/>
          </a:p>
          <a:p>
            <a:endParaRPr lang="fr-FR" dirty="0"/>
          </a:p>
          <a:p>
            <a:endParaRPr lang="fr-FR" dirty="0"/>
          </a:p>
        </p:txBody>
      </p:sp>
    </p:spTree>
    <p:extLst>
      <p:ext uri="{BB962C8B-B14F-4D97-AF65-F5344CB8AC3E}">
        <p14:creationId xmlns:p14="http://schemas.microsoft.com/office/powerpoint/2010/main" val="2036332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ECBBB-1B5D-F20A-0E2A-7B22D59C2E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E11F80-EB62-4E7D-7846-35B8028235D2}"/>
              </a:ext>
            </a:extLst>
          </p:cNvPr>
          <p:cNvSpPr>
            <a:spLocks noGrp="1"/>
          </p:cNvSpPr>
          <p:nvPr>
            <p:ph type="title"/>
          </p:nvPr>
        </p:nvSpPr>
        <p:spPr/>
        <p:txBody>
          <a:bodyPr>
            <a:normAutofit/>
          </a:bodyPr>
          <a:lstStyle/>
          <a:p>
            <a:r>
              <a:rPr lang="fr-FR" dirty="0"/>
              <a:t>Modèle de traduction basé des règles</a:t>
            </a:r>
          </a:p>
        </p:txBody>
      </p:sp>
      <p:sp>
        <p:nvSpPr>
          <p:cNvPr id="3" name="Espace réservé du contenu 2">
            <a:extLst>
              <a:ext uri="{FF2B5EF4-FFF2-40B4-BE49-F238E27FC236}">
                <a16:creationId xmlns:a16="http://schemas.microsoft.com/office/drawing/2014/main" id="{23A54F30-28AE-E45E-0BFD-CBE8628124B6}"/>
              </a:ext>
            </a:extLst>
          </p:cNvPr>
          <p:cNvSpPr>
            <a:spLocks noGrp="1"/>
          </p:cNvSpPr>
          <p:nvPr>
            <p:ph idx="1"/>
          </p:nvPr>
        </p:nvSpPr>
        <p:spPr>
          <a:xfrm>
            <a:off x="5021496" y="1809865"/>
            <a:ext cx="6281873" cy="5248622"/>
          </a:xfrm>
        </p:spPr>
        <p:txBody>
          <a:bodyPr>
            <a:normAutofit fontScale="92500" lnSpcReduction="20000"/>
          </a:bodyPr>
          <a:lstStyle/>
          <a:p>
            <a:r>
              <a:rPr lang="fr-FR" dirty="0"/>
              <a:t>Essais:</a:t>
            </a:r>
          </a:p>
          <a:p>
            <a:r>
              <a:rPr lang="fr-FR" sz="1300" dirty="0"/>
              <a:t>35,"Si le peuple français me fait l'honneur de m'apporter sa confiance dimanche prochain, je serai la présidente du régalien c'est-à-dire de la renaissance démocratique, des protections collectives, de la liberté, de la souveraineté et puis de sa sécurité.",</a:t>
            </a:r>
          </a:p>
          <a:p>
            <a:r>
              <a:rPr lang="fr-FR" sz="1300" dirty="0"/>
              <a:t>si peuple faire français IX-1 honneur apporter IX-1 confiance IX-3 dimanche prochain IX-1 renaissance être président régalien ce est - à - dire démocratique protection collectif liberté souveraineté et pouvoir sécurité IX-3,</a:t>
            </a:r>
          </a:p>
          <a:p>
            <a:r>
              <a:rPr lang="fr-FR" sz="1300" dirty="0"/>
              <a:t>"DIMANCHE PROCHAIN, SI PEUPLE FRANÇAIS DONNE CONFIANCE, HONNEUR, MOI PRESIDENTE... DOMAINE REGALIEN : RENAISSANCE DEMOCRATIE, PROTECTIONS POUR TOUS, LIBERTE, SOUVERAINETE, SECURITE.« </a:t>
            </a:r>
          </a:p>
          <a:p>
            <a:endParaRPr lang="fr-FR" sz="1300" dirty="0"/>
          </a:p>
          <a:p>
            <a:r>
              <a:rPr lang="fr-FR" sz="1400" dirty="0"/>
              <a:t>294,"Vous vous souvenez, oui vous avez mis beaucoup de temps d'ailleurs à le faire.« </a:t>
            </a:r>
          </a:p>
          <a:p>
            <a:r>
              <a:rPr lang="fr-FR" sz="1400" dirty="0"/>
              <a:t>IX-2 souvenir IX-2 oui temps mettre beaucoup ailleurs faire IX-3,</a:t>
            </a:r>
          </a:p>
          <a:p>
            <a:r>
              <a:rPr lang="fr-FR" sz="1400" dirty="0"/>
              <a:t>"VOUS SOUVENEZ, OUI VOUS AVEZ MIS BEAUCOUP TEMPS D'AILLEURS A FAIRE."</a:t>
            </a:r>
          </a:p>
          <a:p>
            <a:br>
              <a:rPr lang="fr-FR" dirty="0"/>
            </a:br>
            <a:endParaRPr lang="fr-FR" dirty="0"/>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3615236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FCD7-9BD1-DF20-8B2B-6EC09276CD1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E2A20C-A9BF-FD5F-A2B5-CE3DCB22E9E3}"/>
              </a:ext>
            </a:extLst>
          </p:cNvPr>
          <p:cNvSpPr>
            <a:spLocks noGrp="1"/>
          </p:cNvSpPr>
          <p:nvPr>
            <p:ph type="title"/>
          </p:nvPr>
        </p:nvSpPr>
        <p:spPr/>
        <p:txBody>
          <a:bodyPr>
            <a:normAutofit fontScale="90000"/>
          </a:bodyPr>
          <a:lstStyle/>
          <a:p>
            <a:r>
              <a:rPr lang="fr-FR" dirty="0"/>
              <a:t>Modèle de traduction basé sur un Transformer et des règles</a:t>
            </a:r>
          </a:p>
        </p:txBody>
      </p:sp>
      <p:sp>
        <p:nvSpPr>
          <p:cNvPr id="3" name="Espace réservé du contenu 2">
            <a:extLst>
              <a:ext uri="{FF2B5EF4-FFF2-40B4-BE49-F238E27FC236}">
                <a16:creationId xmlns:a16="http://schemas.microsoft.com/office/drawing/2014/main" id="{EFD34C4A-001F-9A8F-9196-8DD0224A6E32}"/>
              </a:ext>
            </a:extLst>
          </p:cNvPr>
          <p:cNvSpPr>
            <a:spLocks noGrp="1"/>
          </p:cNvSpPr>
          <p:nvPr>
            <p:ph idx="1"/>
          </p:nvPr>
        </p:nvSpPr>
        <p:spPr/>
        <p:txBody>
          <a:bodyPr/>
          <a:lstStyle/>
          <a:p>
            <a:r>
              <a:rPr lang="fr-FR" dirty="0"/>
              <a:t>Le système fonctionne en deux étapes principales. D'abord, une phrase française est traitée par un modèle de </a:t>
            </a:r>
            <a:r>
              <a:rPr lang="fr-FR" dirty="0" err="1"/>
              <a:t>deep</a:t>
            </a:r>
            <a:r>
              <a:rPr lang="fr-FR" dirty="0"/>
              <a:t> </a:t>
            </a:r>
            <a:r>
              <a:rPr lang="fr-FR" dirty="0" err="1"/>
              <a:t>learning</a:t>
            </a:r>
            <a:r>
              <a:rPr lang="fr-FR" dirty="0"/>
              <a:t> de type Seq2Seq (</a:t>
            </a:r>
            <a:r>
              <a:rPr lang="fr-FR" dirty="0" err="1"/>
              <a:t>Sequence</a:t>
            </a:r>
            <a:r>
              <a:rPr lang="fr-FR" dirty="0"/>
              <a:t>-to-</a:t>
            </a:r>
            <a:r>
              <a:rPr lang="fr-FR" dirty="0" err="1"/>
              <a:t>Sequence</a:t>
            </a:r>
            <a:r>
              <a:rPr lang="fr-FR" dirty="0"/>
              <a:t>). Ce modèle a été entraîné sur 30 000 paires d'exemples français-gloss et est capable de générer une traduction brute. Cette traduction initiale est ensuite affinée par un système de règles linguistiques qui applique les transformations spécifiques à la LSF.</a:t>
            </a:r>
          </a:p>
          <a:p>
            <a:endParaRPr lang="fr-FR" dirty="0"/>
          </a:p>
        </p:txBody>
      </p:sp>
    </p:spTree>
    <p:extLst>
      <p:ext uri="{BB962C8B-B14F-4D97-AF65-F5344CB8AC3E}">
        <p14:creationId xmlns:p14="http://schemas.microsoft.com/office/powerpoint/2010/main" val="3134676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7C18AE-AD4D-C154-09F5-A91CB1D863AD}"/>
              </a:ext>
            </a:extLst>
          </p:cNvPr>
          <p:cNvSpPr>
            <a:spLocks noGrp="1"/>
          </p:cNvSpPr>
          <p:nvPr>
            <p:ph type="title"/>
          </p:nvPr>
        </p:nvSpPr>
        <p:spPr/>
        <p:txBody>
          <a:bodyPr/>
          <a:lstStyle/>
          <a:p>
            <a:r>
              <a:rPr lang="fr-FR" dirty="0"/>
              <a:t>Le neural</a:t>
            </a:r>
          </a:p>
        </p:txBody>
      </p:sp>
      <p:sp>
        <p:nvSpPr>
          <p:cNvPr id="3" name="Espace réservé du contenu 2">
            <a:extLst>
              <a:ext uri="{FF2B5EF4-FFF2-40B4-BE49-F238E27FC236}">
                <a16:creationId xmlns:a16="http://schemas.microsoft.com/office/drawing/2014/main" id="{74B28DF6-D7CB-F5BF-582E-C00205148539}"/>
              </a:ext>
            </a:extLst>
          </p:cNvPr>
          <p:cNvSpPr>
            <a:spLocks noGrp="1"/>
          </p:cNvSpPr>
          <p:nvPr>
            <p:ph idx="1"/>
          </p:nvPr>
        </p:nvSpPr>
        <p:spPr/>
        <p:txBody>
          <a:bodyPr/>
          <a:lstStyle/>
          <a:p>
            <a:r>
              <a:rPr lang="fr-FR" dirty="0"/>
              <a:t>Le modèle neural est un modèle </a:t>
            </a:r>
            <a:r>
              <a:rPr lang="fr-FR" dirty="0" err="1"/>
              <a:t>Sequence</a:t>
            </a:r>
            <a:r>
              <a:rPr lang="fr-FR" dirty="0"/>
              <a:t>-to-</a:t>
            </a:r>
            <a:r>
              <a:rPr lang="fr-FR" dirty="0" err="1"/>
              <a:t>Sequence</a:t>
            </a:r>
            <a:r>
              <a:rPr lang="fr-FR" dirty="0"/>
              <a:t> utilisant l'architecture Encoder-</a:t>
            </a:r>
            <a:r>
              <a:rPr lang="fr-FR" dirty="0" err="1"/>
              <a:t>Decoder</a:t>
            </a:r>
            <a:r>
              <a:rPr lang="fr-FR" dirty="0"/>
              <a:t>. Nous partons d'une base pré-entraînée : </a:t>
            </a:r>
            <a:r>
              <a:rPr lang="fr-FR" dirty="0" err="1"/>
              <a:t>MarianMT</a:t>
            </a:r>
            <a:r>
              <a:rPr lang="fr-FR" dirty="0"/>
              <a:t> de Meta, un modèle déjà formé sur des traductions multilingues réelles. Nous effectuons ensuite un fine-tuning sur nos données spécialisées français-gloss.</a:t>
            </a:r>
          </a:p>
          <a:p>
            <a:endParaRPr lang="fr-FR" dirty="0"/>
          </a:p>
        </p:txBody>
      </p:sp>
    </p:spTree>
    <p:extLst>
      <p:ext uri="{BB962C8B-B14F-4D97-AF65-F5344CB8AC3E}">
        <p14:creationId xmlns:p14="http://schemas.microsoft.com/office/powerpoint/2010/main" val="350307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43D1C0-5558-971A-A294-3F543698BF9F}"/>
              </a:ext>
            </a:extLst>
          </p:cNvPr>
          <p:cNvSpPr>
            <a:spLocks noGrp="1"/>
          </p:cNvSpPr>
          <p:nvPr>
            <p:ph type="title"/>
          </p:nvPr>
        </p:nvSpPr>
        <p:spPr/>
        <p:txBody>
          <a:bodyPr/>
          <a:lstStyle/>
          <a:p>
            <a:r>
              <a:rPr lang="fr-FR" dirty="0"/>
              <a:t>Le </a:t>
            </a:r>
            <a:r>
              <a:rPr lang="fr-FR" dirty="0" err="1"/>
              <a:t>dataset</a:t>
            </a:r>
            <a:endParaRPr lang="fr-FR" dirty="0"/>
          </a:p>
        </p:txBody>
      </p:sp>
      <p:sp>
        <p:nvSpPr>
          <p:cNvPr id="3" name="Espace réservé du contenu 2">
            <a:extLst>
              <a:ext uri="{FF2B5EF4-FFF2-40B4-BE49-F238E27FC236}">
                <a16:creationId xmlns:a16="http://schemas.microsoft.com/office/drawing/2014/main" id="{C87CFFBD-F71A-7BFA-CBFF-8D698CB85E73}"/>
              </a:ext>
            </a:extLst>
          </p:cNvPr>
          <p:cNvSpPr>
            <a:spLocks noGrp="1"/>
          </p:cNvSpPr>
          <p:nvPr>
            <p:ph idx="1"/>
          </p:nvPr>
        </p:nvSpPr>
        <p:spPr/>
        <p:txBody>
          <a:bodyPr>
            <a:normAutofit/>
          </a:bodyPr>
          <a:lstStyle/>
          <a:p>
            <a:r>
              <a:rPr lang="fr-FR" dirty="0"/>
              <a:t>Le système fonctionne avec un </a:t>
            </a:r>
            <a:r>
              <a:rPr lang="fr-FR" dirty="0" err="1"/>
              <a:t>dataset</a:t>
            </a:r>
            <a:r>
              <a:rPr lang="fr-FR" dirty="0"/>
              <a:t> de 30 000 paires français-gloss, enregistré en format CSV.  Des variantes du </a:t>
            </a:r>
            <a:r>
              <a:rPr lang="fr-FR" dirty="0" err="1"/>
              <a:t>dataset</a:t>
            </a:r>
            <a:r>
              <a:rPr lang="fr-FR" dirty="0"/>
              <a:t> existent pour explorer comment l'ajout de données affecte les performances.</a:t>
            </a:r>
          </a:p>
          <a:p>
            <a:r>
              <a:rPr lang="fr-FR" dirty="0"/>
              <a:t>Le script generate_dataset.py permet de générer automatiquement de nouvelles paires en utilisant une API compatible Mistral. Le LLM génère des paires françaises de gloss synthétiques en passant par plusieurs catégories thématiques et grammaticales pour maximiser la diversité.</a:t>
            </a:r>
          </a:p>
          <a:p>
            <a:endParaRPr lang="fr-FR" dirty="0"/>
          </a:p>
        </p:txBody>
      </p:sp>
    </p:spTree>
    <p:extLst>
      <p:ext uri="{BB962C8B-B14F-4D97-AF65-F5344CB8AC3E}">
        <p14:creationId xmlns:p14="http://schemas.microsoft.com/office/powerpoint/2010/main" val="3788431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6475C2-E283-B0D2-9E57-428B042C1F8B}"/>
              </a:ext>
            </a:extLst>
          </p:cNvPr>
          <p:cNvSpPr>
            <a:spLocks noGrp="1"/>
          </p:cNvSpPr>
          <p:nvPr>
            <p:ph type="title"/>
          </p:nvPr>
        </p:nvSpPr>
        <p:spPr/>
        <p:txBody>
          <a:bodyPr/>
          <a:lstStyle/>
          <a:p>
            <a:r>
              <a:rPr lang="fr-FR" dirty="0"/>
              <a:t>Les règles</a:t>
            </a:r>
          </a:p>
        </p:txBody>
      </p:sp>
      <p:sp>
        <p:nvSpPr>
          <p:cNvPr id="3" name="Espace réservé du contenu 2">
            <a:extLst>
              <a:ext uri="{FF2B5EF4-FFF2-40B4-BE49-F238E27FC236}">
                <a16:creationId xmlns:a16="http://schemas.microsoft.com/office/drawing/2014/main" id="{204C3790-AE62-EA11-7DBC-CDE4B577A792}"/>
              </a:ext>
            </a:extLst>
          </p:cNvPr>
          <p:cNvSpPr>
            <a:spLocks noGrp="1"/>
          </p:cNvSpPr>
          <p:nvPr>
            <p:ph idx="1"/>
          </p:nvPr>
        </p:nvSpPr>
        <p:spPr/>
        <p:txBody>
          <a:bodyPr>
            <a:normAutofit fontScale="92500" lnSpcReduction="20000"/>
          </a:bodyPr>
          <a:lstStyle/>
          <a:p>
            <a:r>
              <a:rPr lang="fr-FR" dirty="0"/>
              <a:t>Après la traduction par le modèle neural, le système applique 13 transformations linguistiques, basées sur des règles explicites de modification du gloss. Ces règles codifient les différences structurelles entre le français et la LSF.</a:t>
            </a:r>
          </a:p>
          <a:p>
            <a:r>
              <a:rPr lang="fr-FR" dirty="0"/>
              <a:t>La première transformation supprime les articles (le, la, les, un, une, des, du, etc.), qui n'ont pas d'équivalent direct en LSF. La phrase "le chat mange" devient "chat manger".</a:t>
            </a:r>
          </a:p>
          <a:p>
            <a:r>
              <a:rPr lang="fr-FR" dirty="0"/>
              <a:t>La deuxième supprime les prépositions non-essentielles comme à, de, en, par, pour, sur, dans, etc. Exemple : "à boire" devient simplement "boire".</a:t>
            </a:r>
          </a:p>
          <a:p>
            <a:r>
              <a:rPr lang="fr-FR" dirty="0"/>
              <a:t>La troisième remplace tous les pronoms par des signes d'indexation : je/moi/me deviennent IX-1, tu/toi/te deviennent IX-2, il/elle/lui deviennent IX-3, et les formes plurielles deviennent IX-1-PL, IX-2-PL, IX-3-PL. Cette transformation est cruciale car les indexations sont la manière dont la LSF exprime les références pronominales.</a:t>
            </a:r>
          </a:p>
          <a:p>
            <a:endParaRPr lang="fr-FR" dirty="0"/>
          </a:p>
        </p:txBody>
      </p:sp>
    </p:spTree>
    <p:extLst>
      <p:ext uri="{BB962C8B-B14F-4D97-AF65-F5344CB8AC3E}">
        <p14:creationId xmlns:p14="http://schemas.microsoft.com/office/powerpoint/2010/main" val="389997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E1A68-A9C9-20D1-826F-206D6F9240FB}"/>
              </a:ext>
            </a:extLst>
          </p:cNvPr>
          <p:cNvSpPr>
            <a:spLocks noGrp="1"/>
          </p:cNvSpPr>
          <p:nvPr>
            <p:ph type="title"/>
          </p:nvPr>
        </p:nvSpPr>
        <p:spPr/>
        <p:txBody>
          <a:bodyPr/>
          <a:lstStyle/>
          <a:p>
            <a:r>
              <a:rPr lang="fr-FR" dirty="0"/>
              <a:t>Utilisation du modèle</a:t>
            </a:r>
          </a:p>
        </p:txBody>
      </p:sp>
      <p:sp>
        <p:nvSpPr>
          <p:cNvPr id="3" name="Espace réservé du contenu 2">
            <a:extLst>
              <a:ext uri="{FF2B5EF4-FFF2-40B4-BE49-F238E27FC236}">
                <a16:creationId xmlns:a16="http://schemas.microsoft.com/office/drawing/2014/main" id="{063D2AA5-3CEF-AAEA-78F9-C9458566284F}"/>
              </a:ext>
            </a:extLst>
          </p:cNvPr>
          <p:cNvSpPr>
            <a:spLocks noGrp="1"/>
          </p:cNvSpPr>
          <p:nvPr>
            <p:ph idx="1"/>
          </p:nvPr>
        </p:nvSpPr>
        <p:spPr/>
        <p:txBody>
          <a:bodyPr>
            <a:normAutofit fontScale="92500" lnSpcReduction="10000"/>
          </a:bodyPr>
          <a:lstStyle/>
          <a:p>
            <a:r>
              <a:rPr lang="fr-FR" dirty="0"/>
              <a:t>Le système offre trois modes de traduction. Le mode neural-seul applique uniquement le modèle </a:t>
            </a:r>
            <a:r>
              <a:rPr lang="fr-FR" dirty="0" err="1"/>
              <a:t>deep</a:t>
            </a:r>
            <a:r>
              <a:rPr lang="fr-FR" dirty="0"/>
              <a:t> </a:t>
            </a:r>
            <a:r>
              <a:rPr lang="fr-FR" dirty="0" err="1"/>
              <a:t>learning</a:t>
            </a:r>
            <a:r>
              <a:rPr lang="fr-FR" dirty="0"/>
              <a:t> sans post-traitement par règles. Ce mode est rapide et souvent fluide, mais peut manquer de structure LSF stricte et contenir des erreurs grammaticales. </a:t>
            </a:r>
          </a:p>
          <a:p>
            <a:r>
              <a:rPr lang="fr-FR" dirty="0"/>
              <a:t>Le mode règles-seul applique exclusivement les règles linguistiques, sans model neural. Pour cela, on utilise une analyse morpho-syntaxique par </a:t>
            </a:r>
            <a:r>
              <a:rPr lang="fr-FR" dirty="0" err="1"/>
              <a:t>spaCy</a:t>
            </a:r>
            <a:r>
              <a:rPr lang="fr-FR" dirty="0"/>
              <a:t> sur la phrase française, puis on applique les transformations. Il génère souvent des gloss moins naturels et manque de vocabulaire.</a:t>
            </a:r>
          </a:p>
          <a:p>
            <a:r>
              <a:rPr lang="fr-FR" dirty="0"/>
              <a:t>Le mode </a:t>
            </a:r>
            <a:r>
              <a:rPr lang="fr-FR" dirty="0" err="1"/>
              <a:t>hybrid</a:t>
            </a:r>
            <a:r>
              <a:rPr lang="fr-FR" dirty="0"/>
              <a:t> combine les deux approches : on passe d'abord par le neural, puis on applique les règles. Il offre le meilleur compromis : la flexibilité et la naturalité du neural combinées à la rigueur des règles. Les résultats empiriques montrent une exactitude supérieure aux deux autres modes.</a:t>
            </a:r>
          </a:p>
          <a:p>
            <a:endParaRPr lang="fr-FR" dirty="0"/>
          </a:p>
        </p:txBody>
      </p:sp>
    </p:spTree>
    <p:extLst>
      <p:ext uri="{BB962C8B-B14F-4D97-AF65-F5344CB8AC3E}">
        <p14:creationId xmlns:p14="http://schemas.microsoft.com/office/powerpoint/2010/main" val="1004369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F04CA-F8DC-A8D8-78F7-5514532023D5}"/>
              </a:ext>
            </a:extLst>
          </p:cNvPr>
          <p:cNvSpPr>
            <a:spLocks noGrp="1"/>
          </p:cNvSpPr>
          <p:nvPr>
            <p:ph type="title"/>
          </p:nvPr>
        </p:nvSpPr>
        <p:spPr/>
        <p:txBody>
          <a:bodyPr/>
          <a:lstStyle/>
          <a:p>
            <a:r>
              <a:rPr lang="fr-FR" dirty="0"/>
              <a:t>Résultats</a:t>
            </a:r>
          </a:p>
        </p:txBody>
      </p:sp>
      <p:sp>
        <p:nvSpPr>
          <p:cNvPr id="3" name="Espace réservé du contenu 2">
            <a:extLst>
              <a:ext uri="{FF2B5EF4-FFF2-40B4-BE49-F238E27FC236}">
                <a16:creationId xmlns:a16="http://schemas.microsoft.com/office/drawing/2014/main" id="{26749EAF-CF3F-812A-802C-CAF6A0697844}"/>
              </a:ext>
            </a:extLst>
          </p:cNvPr>
          <p:cNvSpPr>
            <a:spLocks noGrp="1"/>
          </p:cNvSpPr>
          <p:nvPr>
            <p:ph idx="1"/>
          </p:nvPr>
        </p:nvSpPr>
        <p:spPr/>
        <p:txBody>
          <a:bodyPr/>
          <a:lstStyle/>
          <a:p>
            <a:r>
              <a:rPr lang="fr-FR" dirty="0"/>
              <a:t>Les performances sont évaluées avec plusieurs métriques. Le score BLEU mesure la correspondance au niveau n-grams avec la traduction de référence. ROUGE mesure le </a:t>
            </a:r>
            <a:r>
              <a:rPr lang="fr-FR" dirty="0" err="1"/>
              <a:t>recall</a:t>
            </a:r>
            <a:r>
              <a:rPr lang="fr-FR" dirty="0"/>
              <a:t> (vérifie si la traduction contient les éléments de la référence) pour des n-grams. L'exactitude parfaite (exact match) compte le pourcentage de traductions identiques à la référence.</a:t>
            </a:r>
          </a:p>
          <a:p>
            <a:r>
              <a:rPr lang="fr-FR" dirty="0"/>
              <a:t>Typiquement, le mode neural seul atteint 60-70% d'exact match. Le mode </a:t>
            </a:r>
            <a:r>
              <a:rPr lang="fr-FR" dirty="0" err="1"/>
              <a:t>rules</a:t>
            </a:r>
            <a:r>
              <a:rPr lang="fr-FR" dirty="0"/>
              <a:t>-seul atteint 50-60%, car il est très structuré mais moins flexible. Le mode </a:t>
            </a:r>
            <a:r>
              <a:rPr lang="fr-FR" dirty="0" err="1"/>
              <a:t>hybrid</a:t>
            </a:r>
            <a:r>
              <a:rPr lang="fr-FR" dirty="0"/>
              <a:t>, combinant les deux, atteint 75-85% d'exact match selon les évaluations. Ce mode s'avère être le meilleur compromis.</a:t>
            </a:r>
          </a:p>
          <a:p>
            <a:endParaRPr lang="fr-FR" dirty="0"/>
          </a:p>
        </p:txBody>
      </p:sp>
    </p:spTree>
    <p:extLst>
      <p:ext uri="{BB962C8B-B14F-4D97-AF65-F5344CB8AC3E}">
        <p14:creationId xmlns:p14="http://schemas.microsoft.com/office/powerpoint/2010/main" val="204836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C57196-FE7C-3F50-11EA-2019D950FC2A}"/>
              </a:ext>
            </a:extLst>
          </p:cNvPr>
          <p:cNvSpPr>
            <a:spLocks noGrp="1"/>
          </p:cNvSpPr>
          <p:nvPr>
            <p:ph type="title"/>
          </p:nvPr>
        </p:nvSpPr>
        <p:spPr/>
        <p:txBody>
          <a:bodyPr/>
          <a:lstStyle/>
          <a:p>
            <a:r>
              <a:rPr lang="fr-FR" dirty="0"/>
              <a:t>Exemples</a:t>
            </a:r>
          </a:p>
        </p:txBody>
      </p:sp>
      <p:graphicFrame>
        <p:nvGraphicFramePr>
          <p:cNvPr id="4" name="Tableau 3">
            <a:extLst>
              <a:ext uri="{FF2B5EF4-FFF2-40B4-BE49-F238E27FC236}">
                <a16:creationId xmlns:a16="http://schemas.microsoft.com/office/drawing/2014/main" id="{384DE838-AD17-F123-81BE-3442B3607E5D}"/>
              </a:ext>
            </a:extLst>
          </p:cNvPr>
          <p:cNvGraphicFramePr>
            <a:graphicFrameLocks noGrp="1"/>
          </p:cNvGraphicFramePr>
          <p:nvPr/>
        </p:nvGraphicFramePr>
        <p:xfrm>
          <a:off x="5435601" y="817404"/>
          <a:ext cx="5949948" cy="5212080"/>
        </p:xfrm>
        <a:graphic>
          <a:graphicData uri="http://schemas.openxmlformats.org/drawingml/2006/table">
            <a:tbl>
              <a:tblPr/>
              <a:tblGrid>
                <a:gridCol w="1487487">
                  <a:extLst>
                    <a:ext uri="{9D8B030D-6E8A-4147-A177-3AD203B41FA5}">
                      <a16:colId xmlns:a16="http://schemas.microsoft.com/office/drawing/2014/main" val="1865967294"/>
                    </a:ext>
                  </a:extLst>
                </a:gridCol>
                <a:gridCol w="1487487">
                  <a:extLst>
                    <a:ext uri="{9D8B030D-6E8A-4147-A177-3AD203B41FA5}">
                      <a16:colId xmlns:a16="http://schemas.microsoft.com/office/drawing/2014/main" val="918948024"/>
                    </a:ext>
                  </a:extLst>
                </a:gridCol>
                <a:gridCol w="1487487">
                  <a:extLst>
                    <a:ext uri="{9D8B030D-6E8A-4147-A177-3AD203B41FA5}">
                      <a16:colId xmlns:a16="http://schemas.microsoft.com/office/drawing/2014/main" val="943143220"/>
                    </a:ext>
                  </a:extLst>
                </a:gridCol>
                <a:gridCol w="1487487">
                  <a:extLst>
                    <a:ext uri="{9D8B030D-6E8A-4147-A177-3AD203B41FA5}">
                      <a16:colId xmlns:a16="http://schemas.microsoft.com/office/drawing/2014/main" val="839608393"/>
                    </a:ext>
                  </a:extLst>
                </a:gridCol>
              </a:tblGrid>
              <a:tr h="365760">
                <a:tc>
                  <a:txBody>
                    <a:bodyPr/>
                    <a:lstStyle/>
                    <a:p>
                      <a:pPr>
                        <a:buNone/>
                      </a:pPr>
                      <a:r>
                        <a:rPr lang="fr-FR" sz="1800"/>
                        <a:t>Phrase</a:t>
                      </a:r>
                    </a:p>
                  </a:txBody>
                  <a:tcPr anchor="ctr">
                    <a:lnL>
                      <a:noFill/>
                    </a:lnL>
                    <a:lnR>
                      <a:noFill/>
                    </a:lnR>
                    <a:lnT>
                      <a:noFill/>
                    </a:lnT>
                    <a:lnB>
                      <a:noFill/>
                    </a:lnB>
                    <a:noFill/>
                  </a:tcPr>
                </a:tc>
                <a:tc>
                  <a:txBody>
                    <a:bodyPr/>
                    <a:lstStyle/>
                    <a:p>
                      <a:pPr>
                        <a:buNone/>
                      </a:pPr>
                      <a:r>
                        <a:rPr lang="fr-FR" sz="1800"/>
                        <a:t>RULES</a:t>
                      </a:r>
                    </a:p>
                  </a:txBody>
                  <a:tcPr anchor="ctr">
                    <a:lnL>
                      <a:noFill/>
                    </a:lnL>
                    <a:lnR>
                      <a:noFill/>
                    </a:lnR>
                    <a:lnT>
                      <a:noFill/>
                    </a:lnT>
                    <a:lnB>
                      <a:noFill/>
                    </a:lnB>
                    <a:noFill/>
                  </a:tcPr>
                </a:tc>
                <a:tc>
                  <a:txBody>
                    <a:bodyPr/>
                    <a:lstStyle/>
                    <a:p>
                      <a:pPr>
                        <a:buNone/>
                      </a:pPr>
                      <a:r>
                        <a:rPr lang="fr-FR" sz="1800"/>
                        <a:t>NEURAL</a:t>
                      </a:r>
                    </a:p>
                  </a:txBody>
                  <a:tcPr anchor="ctr">
                    <a:lnL>
                      <a:noFill/>
                    </a:lnL>
                    <a:lnR>
                      <a:noFill/>
                    </a:lnR>
                    <a:lnT>
                      <a:noFill/>
                    </a:lnT>
                    <a:lnB>
                      <a:noFill/>
                    </a:lnB>
                    <a:noFill/>
                  </a:tcPr>
                </a:tc>
                <a:tc>
                  <a:txBody>
                    <a:bodyPr/>
                    <a:lstStyle/>
                    <a:p>
                      <a:pPr>
                        <a:buNone/>
                      </a:pPr>
                      <a:r>
                        <a:rPr lang="fr-FR" sz="1800"/>
                        <a:t>HYBRID</a:t>
                      </a:r>
                    </a:p>
                  </a:txBody>
                  <a:tcPr anchor="ctr">
                    <a:lnL>
                      <a:noFill/>
                    </a:lnL>
                    <a:lnR>
                      <a:noFill/>
                    </a:lnR>
                    <a:lnT>
                      <a:noFill/>
                    </a:lnT>
                    <a:lnB>
                      <a:noFill/>
                    </a:lnB>
                    <a:noFill/>
                  </a:tcPr>
                </a:tc>
                <a:extLst>
                  <a:ext uri="{0D108BD9-81ED-4DB2-BD59-A6C34878D82A}">
                    <a16:rowId xmlns:a16="http://schemas.microsoft.com/office/drawing/2014/main" val="3353559374"/>
                  </a:ext>
                </a:extLst>
              </a:tr>
              <a:tr h="640080">
                <a:tc>
                  <a:txBody>
                    <a:bodyPr/>
                    <a:lstStyle/>
                    <a:p>
                      <a:pPr>
                        <a:buNone/>
                      </a:pPr>
                      <a:r>
                        <a:rPr lang="fr-FR" sz="1800"/>
                        <a:t>Je bois un cafe.</a:t>
                      </a:r>
                    </a:p>
                  </a:txBody>
                  <a:tcPr anchor="ctr">
                    <a:lnL>
                      <a:noFill/>
                    </a:lnL>
                    <a:lnR>
                      <a:noFill/>
                    </a:lnR>
                    <a:lnT>
                      <a:noFill/>
                    </a:lnT>
                    <a:lnB>
                      <a:noFill/>
                    </a:lnB>
                    <a:noFill/>
                  </a:tcPr>
                </a:tc>
                <a:tc>
                  <a:txBody>
                    <a:bodyPr/>
                    <a:lstStyle/>
                    <a:p>
                      <a:pPr>
                        <a:buNone/>
                      </a:pPr>
                      <a:r>
                        <a:rPr lang="fr-FR" sz="1800"/>
                        <a:t>IX-1 BOIS CAFE</a:t>
                      </a:r>
                    </a:p>
                  </a:txBody>
                  <a:tcPr anchor="ctr">
                    <a:lnL>
                      <a:noFill/>
                    </a:lnL>
                    <a:lnR>
                      <a:noFill/>
                    </a:lnR>
                    <a:lnT>
                      <a:noFill/>
                    </a:lnT>
                    <a:lnB>
                      <a:noFill/>
                    </a:lnB>
                    <a:noFill/>
                  </a:tcPr>
                </a:tc>
                <a:tc>
                  <a:txBody>
                    <a:bodyPr/>
                    <a:lstStyle/>
                    <a:p>
                      <a:pPr>
                        <a:buNone/>
                      </a:pPr>
                      <a:r>
                        <a:rPr lang="fr-FR" sz="1800"/>
                        <a:t>IX-1 CAFE BOIRE</a:t>
                      </a:r>
                    </a:p>
                  </a:txBody>
                  <a:tcPr anchor="ctr">
                    <a:lnL>
                      <a:noFill/>
                    </a:lnL>
                    <a:lnR>
                      <a:noFill/>
                    </a:lnR>
                    <a:lnT>
                      <a:noFill/>
                    </a:lnT>
                    <a:lnB>
                      <a:noFill/>
                    </a:lnB>
                    <a:noFill/>
                  </a:tcPr>
                </a:tc>
                <a:tc>
                  <a:txBody>
                    <a:bodyPr/>
                    <a:lstStyle/>
                    <a:p>
                      <a:pPr>
                        <a:buNone/>
                      </a:pPr>
                      <a:r>
                        <a:rPr lang="fr-FR" sz="1800"/>
                        <a:t>IX-1 CAFE BOIRE</a:t>
                      </a:r>
                    </a:p>
                  </a:txBody>
                  <a:tcPr anchor="ctr">
                    <a:lnL>
                      <a:noFill/>
                    </a:lnL>
                    <a:lnR>
                      <a:noFill/>
                    </a:lnR>
                    <a:lnT>
                      <a:noFill/>
                    </a:lnT>
                    <a:lnB>
                      <a:noFill/>
                    </a:lnB>
                    <a:noFill/>
                  </a:tcPr>
                </a:tc>
                <a:extLst>
                  <a:ext uri="{0D108BD9-81ED-4DB2-BD59-A6C34878D82A}">
                    <a16:rowId xmlns:a16="http://schemas.microsoft.com/office/drawing/2014/main" val="1881862427"/>
                  </a:ext>
                </a:extLst>
              </a:tr>
              <a:tr h="914400">
                <a:tc>
                  <a:txBody>
                    <a:bodyPr/>
                    <a:lstStyle/>
                    <a:p>
                      <a:pPr>
                        <a:buNone/>
                      </a:pPr>
                      <a:r>
                        <a:rPr lang="fr-FR" sz="1800"/>
                        <a:t>Ou habites-tu ?</a:t>
                      </a:r>
                    </a:p>
                  </a:txBody>
                  <a:tcPr anchor="ctr">
                    <a:lnL>
                      <a:noFill/>
                    </a:lnL>
                    <a:lnR>
                      <a:noFill/>
                    </a:lnR>
                    <a:lnT>
                      <a:noFill/>
                    </a:lnT>
                    <a:lnB>
                      <a:noFill/>
                    </a:lnB>
                    <a:noFill/>
                  </a:tcPr>
                </a:tc>
                <a:tc>
                  <a:txBody>
                    <a:bodyPr/>
                    <a:lstStyle/>
                    <a:p>
                      <a:pPr>
                        <a:buNone/>
                      </a:pPr>
                      <a:r>
                        <a:rPr lang="fr-FR" sz="1800"/>
                        <a:t>OU HABITER IX-2 ?</a:t>
                      </a:r>
                    </a:p>
                  </a:txBody>
                  <a:tcPr anchor="ctr">
                    <a:lnL>
                      <a:noFill/>
                    </a:lnL>
                    <a:lnR>
                      <a:noFill/>
                    </a:lnR>
                    <a:lnT>
                      <a:noFill/>
                    </a:lnT>
                    <a:lnB>
                      <a:noFill/>
                    </a:lnB>
                    <a:noFill/>
                  </a:tcPr>
                </a:tc>
                <a:tc>
                  <a:txBody>
                    <a:bodyPr/>
                    <a:lstStyle/>
                    <a:p>
                      <a:pPr>
                        <a:buNone/>
                      </a:pPr>
                      <a:r>
                        <a:rPr lang="fr-FR" sz="1800"/>
                        <a:t>IX-2 HABITER OÙ</a:t>
                      </a:r>
                    </a:p>
                  </a:txBody>
                  <a:tcPr anchor="ctr">
                    <a:lnL>
                      <a:noFill/>
                    </a:lnL>
                    <a:lnR>
                      <a:noFill/>
                    </a:lnR>
                    <a:lnT>
                      <a:noFill/>
                    </a:lnT>
                    <a:lnB>
                      <a:noFill/>
                    </a:lnB>
                    <a:noFill/>
                  </a:tcPr>
                </a:tc>
                <a:tc>
                  <a:txBody>
                    <a:bodyPr/>
                    <a:lstStyle/>
                    <a:p>
                      <a:pPr>
                        <a:buNone/>
                      </a:pPr>
                      <a:r>
                        <a:rPr lang="fr-FR" sz="1800"/>
                        <a:t>IX-2 HABITER OÙ</a:t>
                      </a:r>
                    </a:p>
                  </a:txBody>
                  <a:tcPr anchor="ctr">
                    <a:lnL>
                      <a:noFill/>
                    </a:lnL>
                    <a:lnR>
                      <a:noFill/>
                    </a:lnR>
                    <a:lnT>
                      <a:noFill/>
                    </a:lnT>
                    <a:lnB>
                      <a:noFill/>
                    </a:lnB>
                    <a:noFill/>
                  </a:tcPr>
                </a:tc>
                <a:extLst>
                  <a:ext uri="{0D108BD9-81ED-4DB2-BD59-A6C34878D82A}">
                    <a16:rowId xmlns:a16="http://schemas.microsoft.com/office/drawing/2014/main" val="3755525127"/>
                  </a:ext>
                </a:extLst>
              </a:tr>
              <a:tr h="1188720">
                <a:tc>
                  <a:txBody>
                    <a:bodyPr/>
                    <a:lstStyle/>
                    <a:p>
                      <a:pPr>
                        <a:buNone/>
                      </a:pPr>
                      <a:r>
                        <a:rPr lang="fr-FR" sz="1800"/>
                        <a:t>Elle aime manger des pommes.</a:t>
                      </a:r>
                    </a:p>
                  </a:txBody>
                  <a:tcPr anchor="ctr">
                    <a:lnL>
                      <a:noFill/>
                    </a:lnL>
                    <a:lnR>
                      <a:noFill/>
                    </a:lnR>
                    <a:lnT>
                      <a:noFill/>
                    </a:lnT>
                    <a:lnB>
                      <a:noFill/>
                    </a:lnB>
                    <a:noFill/>
                  </a:tcPr>
                </a:tc>
                <a:tc>
                  <a:txBody>
                    <a:bodyPr/>
                    <a:lstStyle/>
                    <a:p>
                      <a:pPr>
                        <a:buNone/>
                      </a:pPr>
                      <a:r>
                        <a:rPr lang="fr-FR" sz="1800"/>
                        <a:t>IX-3 POMME+ AIMER MANGER</a:t>
                      </a:r>
                    </a:p>
                  </a:txBody>
                  <a:tcPr anchor="ctr">
                    <a:lnL>
                      <a:noFill/>
                    </a:lnL>
                    <a:lnR>
                      <a:noFill/>
                    </a:lnR>
                    <a:lnT>
                      <a:noFill/>
                    </a:lnT>
                    <a:lnB>
                      <a:noFill/>
                    </a:lnB>
                    <a:noFill/>
                  </a:tcPr>
                </a:tc>
                <a:tc>
                  <a:txBody>
                    <a:bodyPr/>
                    <a:lstStyle/>
                    <a:p>
                      <a:pPr>
                        <a:buNone/>
                      </a:pPr>
                      <a:r>
                        <a:rPr lang="fr-FR" sz="1800"/>
                        <a:t>IX-3 POMME+ MANGER AIMER</a:t>
                      </a:r>
                    </a:p>
                  </a:txBody>
                  <a:tcPr anchor="ctr">
                    <a:lnL>
                      <a:noFill/>
                    </a:lnL>
                    <a:lnR>
                      <a:noFill/>
                    </a:lnR>
                    <a:lnT>
                      <a:noFill/>
                    </a:lnT>
                    <a:lnB>
                      <a:noFill/>
                    </a:lnB>
                    <a:noFill/>
                  </a:tcPr>
                </a:tc>
                <a:tc>
                  <a:txBody>
                    <a:bodyPr/>
                    <a:lstStyle/>
                    <a:p>
                      <a:pPr>
                        <a:buNone/>
                      </a:pPr>
                      <a:r>
                        <a:rPr lang="fr-FR" sz="1800"/>
                        <a:t>IX-3 POMME+ MANGER AIMER</a:t>
                      </a:r>
                    </a:p>
                  </a:txBody>
                  <a:tcPr anchor="ctr">
                    <a:lnL>
                      <a:noFill/>
                    </a:lnL>
                    <a:lnR>
                      <a:noFill/>
                    </a:lnR>
                    <a:lnT>
                      <a:noFill/>
                    </a:lnT>
                    <a:lnB>
                      <a:noFill/>
                    </a:lnB>
                    <a:noFill/>
                  </a:tcPr>
                </a:tc>
                <a:extLst>
                  <a:ext uri="{0D108BD9-81ED-4DB2-BD59-A6C34878D82A}">
                    <a16:rowId xmlns:a16="http://schemas.microsoft.com/office/drawing/2014/main" val="4183283806"/>
                  </a:ext>
                </a:extLst>
              </a:tr>
              <a:tr h="1188720">
                <a:tc>
                  <a:txBody>
                    <a:bodyPr/>
                    <a:lstStyle/>
                    <a:p>
                      <a:pPr>
                        <a:buNone/>
                      </a:pPr>
                      <a:r>
                        <a:rPr lang="fr-FR" sz="1800"/>
                        <a:t>Nous allons a l ecole demain.</a:t>
                      </a:r>
                    </a:p>
                  </a:txBody>
                  <a:tcPr anchor="ctr">
                    <a:lnL>
                      <a:noFill/>
                    </a:lnL>
                    <a:lnR>
                      <a:noFill/>
                    </a:lnR>
                    <a:lnT>
                      <a:noFill/>
                    </a:lnT>
                    <a:lnB>
                      <a:noFill/>
                    </a:lnB>
                    <a:noFill/>
                  </a:tcPr>
                </a:tc>
                <a:tc>
                  <a:txBody>
                    <a:bodyPr/>
                    <a:lstStyle/>
                    <a:p>
                      <a:pPr>
                        <a:buNone/>
                      </a:pPr>
                      <a:r>
                        <a:rPr lang="fr-FR" sz="1800"/>
                        <a:t>DEMAIN IX-1-PL ECOLE ALLER AVOIR</a:t>
                      </a:r>
                    </a:p>
                  </a:txBody>
                  <a:tcPr anchor="ctr">
                    <a:lnL>
                      <a:noFill/>
                    </a:lnL>
                    <a:lnR>
                      <a:noFill/>
                    </a:lnR>
                    <a:lnT>
                      <a:noFill/>
                    </a:lnT>
                    <a:lnB>
                      <a:noFill/>
                    </a:lnB>
                    <a:noFill/>
                  </a:tcPr>
                </a:tc>
                <a:tc>
                  <a:txBody>
                    <a:bodyPr/>
                    <a:lstStyle/>
                    <a:p>
                      <a:pPr>
                        <a:buNone/>
                      </a:pPr>
                      <a:r>
                        <a:rPr lang="fr-FR" sz="1800"/>
                        <a:t>IX-1-PL ÉCOLE DEMAIN ALLER</a:t>
                      </a:r>
                    </a:p>
                  </a:txBody>
                  <a:tcPr anchor="ctr">
                    <a:lnL>
                      <a:noFill/>
                    </a:lnL>
                    <a:lnR>
                      <a:noFill/>
                    </a:lnR>
                    <a:lnT>
                      <a:noFill/>
                    </a:lnT>
                    <a:lnB>
                      <a:noFill/>
                    </a:lnB>
                    <a:noFill/>
                  </a:tcPr>
                </a:tc>
                <a:tc>
                  <a:txBody>
                    <a:bodyPr/>
                    <a:lstStyle/>
                    <a:p>
                      <a:pPr>
                        <a:buNone/>
                      </a:pPr>
                      <a:r>
                        <a:rPr lang="fr-FR" sz="1800"/>
                        <a:t>IX-1-PL ÉCOLE DEMAIN ALLER</a:t>
                      </a:r>
                    </a:p>
                  </a:txBody>
                  <a:tcPr anchor="ctr">
                    <a:lnL>
                      <a:noFill/>
                    </a:lnL>
                    <a:lnR>
                      <a:noFill/>
                    </a:lnR>
                    <a:lnT>
                      <a:noFill/>
                    </a:lnT>
                    <a:lnB>
                      <a:noFill/>
                    </a:lnB>
                    <a:noFill/>
                  </a:tcPr>
                </a:tc>
                <a:extLst>
                  <a:ext uri="{0D108BD9-81ED-4DB2-BD59-A6C34878D82A}">
                    <a16:rowId xmlns:a16="http://schemas.microsoft.com/office/drawing/2014/main" val="1243495719"/>
                  </a:ext>
                </a:extLst>
              </a:tr>
              <a:tr h="914400">
                <a:tc>
                  <a:txBody>
                    <a:bodyPr/>
                    <a:lstStyle/>
                    <a:p>
                      <a:pPr>
                        <a:buNone/>
                      </a:pPr>
                      <a:r>
                        <a:rPr lang="fr-FR" sz="1800"/>
                        <a:t>Tu ne dois pas faire ca.</a:t>
                      </a:r>
                    </a:p>
                  </a:txBody>
                  <a:tcPr anchor="ctr">
                    <a:lnL>
                      <a:noFill/>
                    </a:lnL>
                    <a:lnR>
                      <a:noFill/>
                    </a:lnR>
                    <a:lnT>
                      <a:noFill/>
                    </a:lnT>
                    <a:lnB>
                      <a:noFill/>
                    </a:lnB>
                    <a:noFill/>
                  </a:tcPr>
                </a:tc>
                <a:tc>
                  <a:txBody>
                    <a:bodyPr/>
                    <a:lstStyle/>
                    <a:p>
                      <a:pPr>
                        <a:buNone/>
                      </a:pPr>
                      <a:r>
                        <a:rPr lang="fr-FR" sz="1800"/>
                        <a:t>TU DEVOIR FAIRE PAS</a:t>
                      </a:r>
                    </a:p>
                  </a:txBody>
                  <a:tcPr anchor="ctr">
                    <a:lnL>
                      <a:noFill/>
                    </a:lnL>
                    <a:lnR>
                      <a:noFill/>
                    </a:lnR>
                    <a:lnT>
                      <a:noFill/>
                    </a:lnT>
                    <a:lnB>
                      <a:noFill/>
                    </a:lnB>
                    <a:noFill/>
                  </a:tcPr>
                </a:tc>
                <a:tc>
                  <a:txBody>
                    <a:bodyPr/>
                    <a:lstStyle/>
                    <a:p>
                      <a:pPr>
                        <a:buNone/>
                      </a:pPr>
                      <a:r>
                        <a:rPr lang="fr-FR" sz="1800"/>
                        <a:t>IX-2 FAIRE CA DEVOIR PAS</a:t>
                      </a:r>
                    </a:p>
                  </a:txBody>
                  <a:tcPr anchor="ctr">
                    <a:lnL>
                      <a:noFill/>
                    </a:lnL>
                    <a:lnR>
                      <a:noFill/>
                    </a:lnR>
                    <a:lnT>
                      <a:noFill/>
                    </a:lnT>
                    <a:lnB>
                      <a:noFill/>
                    </a:lnB>
                    <a:noFill/>
                  </a:tcPr>
                </a:tc>
                <a:tc>
                  <a:txBody>
                    <a:bodyPr/>
                    <a:lstStyle/>
                    <a:p>
                      <a:pPr>
                        <a:buNone/>
                      </a:pPr>
                      <a:r>
                        <a:rPr lang="fr-FR" sz="1800" dirty="0"/>
                        <a:t>IX-2 FAIRE CA DEVOIR PAS</a:t>
                      </a:r>
                    </a:p>
                  </a:txBody>
                  <a:tcPr anchor="ctr">
                    <a:lnL>
                      <a:noFill/>
                    </a:lnL>
                    <a:lnR>
                      <a:noFill/>
                    </a:lnR>
                    <a:lnT>
                      <a:noFill/>
                    </a:lnT>
                    <a:lnB>
                      <a:noFill/>
                    </a:lnB>
                    <a:noFill/>
                  </a:tcPr>
                </a:tc>
                <a:extLst>
                  <a:ext uri="{0D108BD9-81ED-4DB2-BD59-A6C34878D82A}">
                    <a16:rowId xmlns:a16="http://schemas.microsoft.com/office/drawing/2014/main" val="2126166515"/>
                  </a:ext>
                </a:extLst>
              </a:tr>
            </a:tbl>
          </a:graphicData>
        </a:graphic>
      </p:graphicFrame>
    </p:spTree>
    <p:extLst>
      <p:ext uri="{BB962C8B-B14F-4D97-AF65-F5344CB8AC3E}">
        <p14:creationId xmlns:p14="http://schemas.microsoft.com/office/powerpoint/2010/main" val="355753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6D9978-3F5D-F38C-73A3-E3414987356C}"/>
              </a:ext>
            </a:extLst>
          </p:cNvPr>
          <p:cNvSpPr>
            <a:spLocks noGrp="1"/>
          </p:cNvSpPr>
          <p:nvPr>
            <p:ph type="title"/>
          </p:nvPr>
        </p:nvSpPr>
        <p:spPr/>
        <p:txBody>
          <a:bodyPr/>
          <a:lstStyle/>
          <a:p>
            <a:r>
              <a:rPr lang="fr-FR" dirty="0"/>
              <a:t>Améliorations</a:t>
            </a:r>
          </a:p>
        </p:txBody>
      </p:sp>
      <p:sp>
        <p:nvSpPr>
          <p:cNvPr id="3" name="Espace réservé du contenu 2">
            <a:extLst>
              <a:ext uri="{FF2B5EF4-FFF2-40B4-BE49-F238E27FC236}">
                <a16:creationId xmlns:a16="http://schemas.microsoft.com/office/drawing/2014/main" id="{B262E672-20BE-2B57-1AF7-C226E4FAE53B}"/>
              </a:ext>
            </a:extLst>
          </p:cNvPr>
          <p:cNvSpPr>
            <a:spLocks noGrp="1"/>
          </p:cNvSpPr>
          <p:nvPr>
            <p:ph idx="1"/>
          </p:nvPr>
        </p:nvSpPr>
        <p:spPr/>
        <p:txBody>
          <a:bodyPr/>
          <a:lstStyle/>
          <a:p>
            <a:r>
              <a:rPr lang="fr-FR" dirty="0"/>
              <a:t>Améliorer la qualité du </a:t>
            </a:r>
            <a:r>
              <a:rPr lang="fr-FR" dirty="0" err="1"/>
              <a:t>dataset</a:t>
            </a:r>
            <a:r>
              <a:rPr lang="fr-FR" dirty="0"/>
              <a:t>, beaucoup de phrases générées par LLM possèdent des erreurs de traduction et on entraîne notre modèle sur des erreurs.</a:t>
            </a:r>
          </a:p>
          <a:p>
            <a:r>
              <a:rPr lang="fr-FR" dirty="0"/>
              <a:t>Créer </a:t>
            </a:r>
            <a:r>
              <a:rPr lang="fr-FR" dirty="0" err="1"/>
              <a:t>dataset</a:t>
            </a:r>
            <a:r>
              <a:rPr lang="fr-FR" dirty="0"/>
              <a:t> spécial pour débats politiques (vocabulaire, tournures de phrases): « le président parlera de la réforme » </a:t>
            </a:r>
            <a:r>
              <a:rPr lang="fr-FR" dirty="0">
                <a:sym typeface="Wingdings" panose="05000000000000000000" pitchFamily="2" charset="2"/>
              </a:rPr>
              <a:t> </a:t>
            </a:r>
            <a:r>
              <a:rPr lang="fr-FR" dirty="0"/>
              <a:t>RÉGATION PARLER PRESIDENT</a:t>
            </a:r>
          </a:p>
          <a:p>
            <a:r>
              <a:rPr lang="fr-FR" dirty="0"/>
              <a:t>Créer notre propre transformer avec une architecture plus adaptée à notre problème grâce aux recherches d’Alexia.</a:t>
            </a:r>
          </a:p>
        </p:txBody>
      </p:sp>
    </p:spTree>
    <p:extLst>
      <p:ext uri="{BB962C8B-B14F-4D97-AF65-F5344CB8AC3E}">
        <p14:creationId xmlns:p14="http://schemas.microsoft.com/office/powerpoint/2010/main" val="1122936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EDC56-61C4-11BB-3409-658B5BF250AC}"/>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76E3D099-1FE8-EBB7-147D-49E2180B8A2A}"/>
              </a:ext>
            </a:extLst>
          </p:cNvPr>
          <p:cNvSpPr>
            <a:spLocks noGrp="1"/>
          </p:cNvSpPr>
          <p:nvPr>
            <p:ph idx="1"/>
          </p:nvPr>
        </p:nvSpPr>
        <p:spPr/>
        <p:txBody>
          <a:bodyPr/>
          <a:lstStyle/>
          <a:p>
            <a:r>
              <a:rPr lang="fr-FR" altLang="zh-CN" dirty="0"/>
              <a:t>Source :</a:t>
            </a:r>
          </a:p>
          <a:p>
            <a:r>
              <a:rPr lang="fr-FR" altLang="zh-CN" dirty="0"/>
              <a:t>- Débat politique français (transcription)</a:t>
            </a:r>
          </a:p>
          <a:p>
            <a:pPr marL="0" indent="0">
              <a:buNone/>
            </a:pPr>
            <a:endParaRPr lang="fr-FR" altLang="zh-CN" dirty="0"/>
          </a:p>
          <a:p>
            <a:r>
              <a:rPr lang="fr-FR" altLang="zh-CN" dirty="0"/>
              <a:t>Modèle utilisé :</a:t>
            </a:r>
          </a:p>
          <a:p>
            <a:r>
              <a:rPr lang="fr-FR" altLang="zh-CN" dirty="0"/>
              <a:t>- mT5 (multilingual Transformer)</a:t>
            </a:r>
          </a:p>
          <a:p>
            <a:r>
              <a:rPr lang="fr-FR" altLang="zh-CN" dirty="0"/>
              <a:t>- Fine-tuning sur nos données</a:t>
            </a:r>
          </a:p>
          <a:p>
            <a:endParaRPr lang="fr-FR" altLang="zh-CN" dirty="0"/>
          </a:p>
          <a:p>
            <a:r>
              <a:rPr lang="fr-FR" altLang="zh-CN" dirty="0"/>
              <a:t>Pourquoi mT5 :</a:t>
            </a:r>
          </a:p>
          <a:p>
            <a:r>
              <a:rPr lang="fr-FR" altLang="zh-CN" dirty="0"/>
              <a:t>- Modèle multilingue</a:t>
            </a:r>
          </a:p>
          <a:p>
            <a:r>
              <a:rPr lang="fr-FR" altLang="zh-CN" dirty="0"/>
              <a:t>- Adapté aux tâches de traduction</a:t>
            </a:r>
            <a:endParaRPr lang="zh-CN" altLang="en-US" dirty="0"/>
          </a:p>
        </p:txBody>
      </p:sp>
    </p:spTree>
    <p:extLst>
      <p:ext uri="{BB962C8B-B14F-4D97-AF65-F5344CB8AC3E}">
        <p14:creationId xmlns:p14="http://schemas.microsoft.com/office/powerpoint/2010/main" val="2729480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17A4-B6DA-F4D2-CC60-A1329C1AF5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747137-E023-4258-CFAF-F0EDC20559E5}"/>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1B327549-94CA-1128-2129-6701E8F09194}"/>
              </a:ext>
            </a:extLst>
          </p:cNvPr>
          <p:cNvSpPr>
            <a:spLocks noGrp="1"/>
          </p:cNvSpPr>
          <p:nvPr>
            <p:ph idx="1"/>
          </p:nvPr>
        </p:nvSpPr>
        <p:spPr/>
        <p:txBody>
          <a:bodyPr/>
          <a:lstStyle/>
          <a:p>
            <a:r>
              <a:rPr lang="fr-FR" altLang="zh-CN" dirty="0"/>
              <a:t>Nettoyage des données :</a:t>
            </a:r>
          </a:p>
          <a:p>
            <a:r>
              <a:rPr lang="fr-FR" altLang="zh-CN" dirty="0"/>
              <a:t>- Normalisation (majuscules, suppression ponctuation)</a:t>
            </a:r>
          </a:p>
          <a:p>
            <a:r>
              <a:rPr lang="fr-FR" altLang="zh-CN" dirty="0"/>
              <a:t>- Uniformisation des entités (MACRON, LE_PEN)</a:t>
            </a:r>
          </a:p>
          <a:p>
            <a:r>
              <a:rPr lang="fr-FR" altLang="zh-CN" dirty="0"/>
              <a:t>- Filtrage des phrases aberrantes</a:t>
            </a:r>
          </a:p>
          <a:p>
            <a:r>
              <a:rPr lang="fr-FR" altLang="zh-CN" dirty="0"/>
              <a:t>- Vérification de l’alignement</a:t>
            </a:r>
            <a:endParaRPr lang="zh-CN" altLang="en-US" dirty="0"/>
          </a:p>
        </p:txBody>
      </p:sp>
    </p:spTree>
    <p:extLst>
      <p:ext uri="{BB962C8B-B14F-4D97-AF65-F5344CB8AC3E}">
        <p14:creationId xmlns:p14="http://schemas.microsoft.com/office/powerpoint/2010/main" val="2726907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02F02-38E7-0AEE-0D41-BEE24DF2C5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3AEAEF-27E9-A928-38A4-86A36A2AE810}"/>
              </a:ext>
            </a:extLst>
          </p:cNvPr>
          <p:cNvSpPr>
            <a:spLocks noGrp="1"/>
          </p:cNvSpPr>
          <p:nvPr>
            <p:ph type="title"/>
          </p:nvPr>
        </p:nvSpPr>
        <p:spPr>
          <a:xfrm>
            <a:off x="888631" y="2358391"/>
            <a:ext cx="3498979" cy="2453676"/>
          </a:xfrm>
        </p:spPr>
        <p:txBody>
          <a:bodyPr>
            <a:normAutofit/>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0941B1B9-CE6B-A5CB-C5C0-4E3847B69E3F}"/>
              </a:ext>
            </a:extLst>
          </p:cNvPr>
          <p:cNvSpPr>
            <a:spLocks noGrp="1"/>
          </p:cNvSpPr>
          <p:nvPr>
            <p:ph idx="1"/>
          </p:nvPr>
        </p:nvSpPr>
        <p:spPr>
          <a:xfrm>
            <a:off x="5118447" y="797595"/>
            <a:ext cx="6281873" cy="1812876"/>
          </a:xfrm>
        </p:spPr>
        <p:txBody>
          <a:bodyPr>
            <a:normAutofit/>
          </a:bodyPr>
          <a:lstStyle/>
          <a:p>
            <a:r>
              <a:rPr lang="fr-FR" altLang="zh-CN" dirty="0"/>
              <a:t>Statistiques :</a:t>
            </a:r>
          </a:p>
          <a:p>
            <a:r>
              <a:rPr lang="fr-FR" altLang="zh-CN" dirty="0"/>
              <a:t>- 476 phrases</a:t>
            </a:r>
          </a:p>
          <a:p>
            <a:r>
              <a:rPr lang="fr-FR" altLang="zh-CN" dirty="0"/>
              <a:t>- Vocabulaire : ~1445 tokens</a:t>
            </a:r>
            <a:endParaRPr lang="zh-CN" altLang="en-US" dirty="0"/>
          </a:p>
        </p:txBody>
      </p:sp>
      <p:pic>
        <p:nvPicPr>
          <p:cNvPr id="5" name="图片 4">
            <a:extLst>
              <a:ext uri="{FF2B5EF4-FFF2-40B4-BE49-F238E27FC236}">
                <a16:creationId xmlns:a16="http://schemas.microsoft.com/office/drawing/2014/main" id="{5AE8330F-8336-C2A4-1FC6-812E515D1CBB}"/>
              </a:ext>
            </a:extLst>
          </p:cNvPr>
          <p:cNvPicPr>
            <a:picLocks noChangeAspect="1"/>
          </p:cNvPicPr>
          <p:nvPr/>
        </p:nvPicPr>
        <p:blipFill>
          <a:blip r:embed="rId2">
            <a:extLst>
              <a:ext uri="{28A0092B-C50C-407E-A947-70E740481C1C}">
                <a14:useLocalDpi xmlns:a14="http://schemas.microsoft.com/office/drawing/2010/main" val="0"/>
              </a:ext>
            </a:extLst>
          </a:blip>
          <a:srcRect r="11421" b="-2"/>
          <a:stretch>
            <a:fillRect/>
          </a:stretch>
        </p:blipFill>
        <p:spPr>
          <a:xfrm>
            <a:off x="5115908" y="3100159"/>
            <a:ext cx="6274561" cy="2957451"/>
          </a:xfrm>
          <a:prstGeom prst="rect">
            <a:avLst/>
          </a:prstGeom>
          <a:ln w="9525">
            <a:solidFill>
              <a:schemeClr val="tx1">
                <a:alpha val="20000"/>
              </a:schemeClr>
            </a:solidFill>
          </a:ln>
        </p:spPr>
      </p:pic>
    </p:spTree>
    <p:extLst>
      <p:ext uri="{BB962C8B-B14F-4D97-AF65-F5344CB8AC3E}">
        <p14:creationId xmlns:p14="http://schemas.microsoft.com/office/powerpoint/2010/main" val="3376393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99C6-4392-855D-1340-7BCC2A7503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4669E4-B769-C2B2-5A1D-437E43813158}"/>
              </a:ext>
            </a:extLst>
          </p:cNvPr>
          <p:cNvSpPr>
            <a:spLocks noGrp="1"/>
          </p:cNvSpPr>
          <p:nvPr>
            <p:ph type="title"/>
          </p:nvPr>
        </p:nvSpPr>
        <p:spPr/>
        <p:txBody>
          <a:bodyPr/>
          <a:lstStyle/>
          <a:p>
            <a:r>
              <a:rPr lang="fr-FR" altLang="zh-CN" dirty="0"/>
              <a:t>Résultat</a:t>
            </a:r>
            <a:endParaRPr lang="zh-CN" altLang="en-US" dirty="0"/>
          </a:p>
        </p:txBody>
      </p:sp>
      <p:sp>
        <p:nvSpPr>
          <p:cNvPr id="3" name="内容占位符 2">
            <a:extLst>
              <a:ext uri="{FF2B5EF4-FFF2-40B4-BE49-F238E27FC236}">
                <a16:creationId xmlns:a16="http://schemas.microsoft.com/office/drawing/2014/main" id="{771B7E76-EF42-3165-C1D9-0EF5D1011430}"/>
              </a:ext>
            </a:extLst>
          </p:cNvPr>
          <p:cNvSpPr>
            <a:spLocks noGrp="1"/>
          </p:cNvSpPr>
          <p:nvPr>
            <p:ph idx="1"/>
          </p:nvPr>
        </p:nvSpPr>
        <p:spPr/>
        <p:txBody>
          <a:bodyPr/>
          <a:lstStyle/>
          <a:p>
            <a:r>
              <a:rPr lang="en-US" altLang="zh-CN" dirty="0"/>
              <a:t>Input</a:t>
            </a:r>
            <a:r>
              <a:rPr lang="fr-FR" altLang="zh-CN" dirty="0"/>
              <a:t> : j'incite et j'enlève les charges et les impôts.</a:t>
            </a:r>
            <a:br>
              <a:rPr lang="fr-FR" altLang="zh-CN" dirty="0"/>
            </a:br>
            <a:r>
              <a:rPr lang="fr-FR" altLang="zh-CN" dirty="0"/>
              <a:t>Output : C'inciTE ET MOI ENLEVE TAXES ET IMPOTS</a:t>
            </a:r>
          </a:p>
          <a:p>
            <a:endParaRPr lang="fr-FR" altLang="zh-CN" dirty="0"/>
          </a:p>
          <a:p>
            <a:r>
              <a:rPr lang="fr-FR" altLang="zh-CN" dirty="0"/>
              <a:t>Input : Le président va présenter la réforme demain.</a:t>
            </a:r>
          </a:p>
          <a:p>
            <a:pPr marL="0" indent="0">
              <a:buNone/>
            </a:pPr>
            <a:r>
              <a:rPr lang="fr-FR" altLang="zh-CN" dirty="0"/>
              <a:t>    Output : C'EST PRESIDENTE VA PRESENTER REFORMATION DEMAIN</a:t>
            </a:r>
          </a:p>
          <a:p>
            <a:endParaRPr lang="fr-FR" altLang="zh-CN" dirty="0"/>
          </a:p>
          <a:p>
            <a:r>
              <a:rPr lang="fr-FR" altLang="zh-CN" dirty="0"/>
              <a:t>Input   : mais vous pourrez asséner.</a:t>
            </a:r>
          </a:p>
          <a:p>
            <a:r>
              <a:rPr lang="fr-FR" altLang="zh-CN" dirty="0"/>
              <a:t>Ouput : MAIS VOUS POURLEZ ACHAT</a:t>
            </a:r>
            <a:endParaRPr lang="zh-CN" altLang="en-US" dirty="0"/>
          </a:p>
        </p:txBody>
      </p:sp>
    </p:spTree>
    <p:extLst>
      <p:ext uri="{BB962C8B-B14F-4D97-AF65-F5344CB8AC3E}">
        <p14:creationId xmlns:p14="http://schemas.microsoft.com/office/powerpoint/2010/main" val="977966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509D-1C76-3237-0AD9-41F70EBC36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9B163E-ECF9-20B9-EC2F-A833759F0EE2}"/>
              </a:ext>
            </a:extLst>
          </p:cNvPr>
          <p:cNvSpPr>
            <a:spLocks noGrp="1"/>
          </p:cNvSpPr>
          <p:nvPr>
            <p:ph type="title"/>
          </p:nvPr>
        </p:nvSpPr>
        <p:spPr/>
        <p:txBody>
          <a:bodyPr/>
          <a:lstStyle/>
          <a:p>
            <a:r>
              <a:rPr lang="fr-FR" altLang="zh-CN" dirty="0"/>
              <a:t>Résultat</a:t>
            </a:r>
            <a:endParaRPr lang="zh-CN" altLang="en-US" dirty="0"/>
          </a:p>
        </p:txBody>
      </p:sp>
      <p:sp>
        <p:nvSpPr>
          <p:cNvPr id="3" name="内容占位符 2">
            <a:extLst>
              <a:ext uri="{FF2B5EF4-FFF2-40B4-BE49-F238E27FC236}">
                <a16:creationId xmlns:a16="http://schemas.microsoft.com/office/drawing/2014/main" id="{4DC25BA3-8BEC-E73B-B709-A2CB790C3B0D}"/>
              </a:ext>
            </a:extLst>
          </p:cNvPr>
          <p:cNvSpPr>
            <a:spLocks noGrp="1"/>
          </p:cNvSpPr>
          <p:nvPr>
            <p:ph idx="1"/>
          </p:nvPr>
        </p:nvSpPr>
        <p:spPr/>
        <p:txBody>
          <a:bodyPr/>
          <a:lstStyle/>
          <a:p>
            <a:pPr marL="0" indent="0">
              <a:buNone/>
            </a:pPr>
            <a:r>
              <a:rPr lang="fr-FR" altLang="zh-CN" dirty="0"/>
              <a:t>Problèmes observés :</a:t>
            </a:r>
          </a:p>
          <a:p>
            <a:r>
              <a:rPr lang="fr-FR" altLang="zh-CN" dirty="0"/>
              <a:t>- </a:t>
            </a:r>
            <a:r>
              <a:rPr lang="fr-CA" altLang="zh-CN" dirty="0"/>
              <a:t>Confusion lexicale </a:t>
            </a:r>
            <a:r>
              <a:rPr lang="fr-FR" altLang="zh-CN" dirty="0"/>
              <a:t>(</a:t>
            </a:r>
            <a:r>
              <a:rPr lang="fr-CA" altLang="zh-CN" dirty="0"/>
              <a:t>POURREZ → POURLEZ</a:t>
            </a:r>
            <a:r>
              <a:rPr lang="fr-FR" altLang="zh-CN" dirty="0"/>
              <a:t>)</a:t>
            </a:r>
          </a:p>
          <a:p>
            <a:r>
              <a:rPr lang="fr-FR" altLang="zh-CN" dirty="0"/>
              <a:t>- </a:t>
            </a:r>
            <a:r>
              <a:rPr lang="fr-CA" altLang="zh-CN" dirty="0"/>
              <a:t>Biais de fréquence</a:t>
            </a:r>
            <a:endParaRPr lang="fr-FR" altLang="zh-CN" dirty="0"/>
          </a:p>
          <a:p>
            <a:r>
              <a:rPr lang="fr-FR" altLang="zh-CN" dirty="0"/>
              <a:t>- Sortie trop proche du français </a:t>
            </a:r>
            <a:r>
              <a:rPr lang="en-US" altLang="zh-CN" dirty="0"/>
              <a:t>(</a:t>
            </a:r>
            <a:r>
              <a:rPr lang="fr-FR" altLang="zh-CN" dirty="0"/>
              <a:t>présence de "CE", "NE", "L’ )</a:t>
            </a:r>
            <a:endParaRPr lang="zh-CN" altLang="en-US" dirty="0"/>
          </a:p>
        </p:txBody>
      </p:sp>
    </p:spTree>
    <p:extLst>
      <p:ext uri="{BB962C8B-B14F-4D97-AF65-F5344CB8AC3E}">
        <p14:creationId xmlns:p14="http://schemas.microsoft.com/office/powerpoint/2010/main" val="4046095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A86A4-17F0-552B-9190-8157A3BB9CFB}"/>
              </a:ext>
            </a:extLst>
          </p:cNvPr>
          <p:cNvSpPr>
            <a:spLocks noGrp="1"/>
          </p:cNvSpPr>
          <p:nvPr>
            <p:ph type="title"/>
          </p:nvPr>
        </p:nvSpPr>
        <p:spPr/>
        <p:txBody>
          <a:bodyPr/>
          <a:lstStyle/>
          <a:p>
            <a:r>
              <a:rPr lang="fr-FR" altLang="zh-CN" dirty="0"/>
              <a:t>Modèle en utilisant MT5</a:t>
            </a:r>
            <a:endParaRPr lang="zh-CN" altLang="en-US" dirty="0"/>
          </a:p>
        </p:txBody>
      </p:sp>
      <p:sp>
        <p:nvSpPr>
          <p:cNvPr id="3" name="内容占位符 2">
            <a:extLst>
              <a:ext uri="{FF2B5EF4-FFF2-40B4-BE49-F238E27FC236}">
                <a16:creationId xmlns:a16="http://schemas.microsoft.com/office/drawing/2014/main" id="{D21D245D-62E5-FB7B-A2BF-E566CD144A66}"/>
              </a:ext>
            </a:extLst>
          </p:cNvPr>
          <p:cNvSpPr>
            <a:spLocks noGrp="1"/>
          </p:cNvSpPr>
          <p:nvPr>
            <p:ph sz="half" idx="1"/>
          </p:nvPr>
        </p:nvSpPr>
        <p:spPr/>
        <p:txBody>
          <a:bodyPr/>
          <a:lstStyle/>
          <a:p>
            <a:r>
              <a:rPr lang="fr-FR" altLang="zh-CN" dirty="0"/>
              <a:t>Causes possibles :</a:t>
            </a:r>
          </a:p>
          <a:p>
            <a:r>
              <a:rPr lang="fr-FR" altLang="zh-CN" dirty="0"/>
              <a:t>- Données très limitées (~500 phrases)</a:t>
            </a:r>
          </a:p>
          <a:p>
            <a:r>
              <a:rPr lang="fr-FR" altLang="zh-CN" dirty="0"/>
              <a:t>- Gloss pas totalement normalisé</a:t>
            </a:r>
          </a:p>
          <a:p>
            <a:r>
              <a:rPr lang="fr-FR" altLang="zh-CN" dirty="0"/>
              <a:t>- Surapprentissage (overfitting)</a:t>
            </a:r>
            <a:endParaRPr lang="zh-CN" altLang="en-US" dirty="0"/>
          </a:p>
        </p:txBody>
      </p:sp>
      <p:sp>
        <p:nvSpPr>
          <p:cNvPr id="4" name="内容占位符 3">
            <a:extLst>
              <a:ext uri="{FF2B5EF4-FFF2-40B4-BE49-F238E27FC236}">
                <a16:creationId xmlns:a16="http://schemas.microsoft.com/office/drawing/2014/main" id="{9AB2FDDD-007E-5A96-9D98-FC427F03F8AD}"/>
              </a:ext>
            </a:extLst>
          </p:cNvPr>
          <p:cNvSpPr>
            <a:spLocks noGrp="1"/>
          </p:cNvSpPr>
          <p:nvPr>
            <p:ph sz="half" idx="2"/>
          </p:nvPr>
        </p:nvSpPr>
        <p:spPr/>
        <p:txBody>
          <a:bodyPr/>
          <a:lstStyle/>
          <a:p>
            <a:r>
              <a:rPr lang="fr-FR" altLang="zh-CN" dirty="0"/>
              <a:t>Perspectives :</a:t>
            </a:r>
          </a:p>
          <a:p>
            <a:r>
              <a:rPr lang="fr-FR" altLang="zh-CN" dirty="0"/>
              <a:t>- Améliorer le nettoyage </a:t>
            </a:r>
          </a:p>
          <a:p>
            <a:r>
              <a:rPr lang="fr-FR" altLang="zh-CN" dirty="0"/>
              <a:t>- Augmenter les données</a:t>
            </a:r>
          </a:p>
          <a:p>
            <a:r>
              <a:rPr lang="fr-FR" altLang="zh-CN" dirty="0"/>
              <a:t>- Ajuster les paramètres de génération</a:t>
            </a:r>
          </a:p>
        </p:txBody>
      </p:sp>
    </p:spTree>
    <p:extLst>
      <p:ext uri="{BB962C8B-B14F-4D97-AF65-F5344CB8AC3E}">
        <p14:creationId xmlns:p14="http://schemas.microsoft.com/office/powerpoint/2010/main" val="3417607227"/>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{6AA1E272-529B-4A04-B109-FF7C336A09DE}TF84f8bd34-e664-4dff-80e6-54cad708313b15f750d3-b1ee862227dc</Template>
  <TotalTime>204</TotalTime>
  <Words>1399</Words>
  <Application>Microsoft Office PowerPoint</Application>
  <PresentationFormat>Grand écran</PresentationFormat>
  <Paragraphs>125</Paragraphs>
  <Slides>17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Calibri Light</vt:lpstr>
      <vt:lpstr>Rockwell</vt:lpstr>
      <vt:lpstr>Wingdings</vt:lpstr>
      <vt:lpstr>Atlas</vt:lpstr>
      <vt:lpstr>Réunion d’avancement</vt:lpstr>
      <vt:lpstr>Modèle de traduction basé des règles</vt:lpstr>
      <vt:lpstr>Modèle de traduction basé des règles</vt:lpstr>
      <vt:lpstr>Modèle de traduction basé sur un Transformer et des règles</vt:lpstr>
      <vt:lpstr>Le neural</vt:lpstr>
      <vt:lpstr>Le dataset</vt:lpstr>
      <vt:lpstr>Les règles</vt:lpstr>
      <vt:lpstr>Utilisation du modèle</vt:lpstr>
      <vt:lpstr>Résultats</vt:lpstr>
      <vt:lpstr>Exemples</vt:lpstr>
      <vt:lpstr>Améliorations</vt:lpstr>
      <vt:lpstr>Modèle en utilisant MT5</vt:lpstr>
      <vt:lpstr>Modèle en utilisant MT5</vt:lpstr>
      <vt:lpstr>Modèle en utilisant MT5</vt:lpstr>
      <vt:lpstr>Résultat</vt:lpstr>
      <vt:lpstr>Résultat</vt:lpstr>
      <vt:lpstr>Modèle en utilisant MT5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Hugo Moncomble (Student at CentraleSupelec)</dc:creator>
  <cp:lastModifiedBy>Sébastien Aliane (Student at CentraleSupelec)</cp:lastModifiedBy>
  <cp:revision>7</cp:revision>
  <dcterms:created xsi:type="dcterms:W3CDTF">2026-03-27T09:08:31Z</dcterms:created>
  <dcterms:modified xsi:type="dcterms:W3CDTF">2026-03-27T13:00:10Z</dcterms:modified>
</cp:coreProperties>
</file>